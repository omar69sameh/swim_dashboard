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27"/>
  </p:notesMasterIdLst>
  <p:sldIdLst>
    <p:sldId id="256" r:id="rId2"/>
    <p:sldId id="321" r:id="rId3"/>
    <p:sldId id="290" r:id="rId4"/>
    <p:sldId id="315" r:id="rId5"/>
    <p:sldId id="323" r:id="rId6"/>
    <p:sldId id="293" r:id="rId7"/>
    <p:sldId id="294" r:id="rId8"/>
    <p:sldId id="295" r:id="rId9"/>
    <p:sldId id="296" r:id="rId10"/>
    <p:sldId id="324" r:id="rId11"/>
    <p:sldId id="316" r:id="rId12"/>
    <p:sldId id="297" r:id="rId13"/>
    <p:sldId id="298" r:id="rId14"/>
    <p:sldId id="304" r:id="rId15"/>
    <p:sldId id="300" r:id="rId16"/>
    <p:sldId id="326" r:id="rId17"/>
    <p:sldId id="325" r:id="rId18"/>
    <p:sldId id="332" r:id="rId27"/>
    <p:sldId id="312" r:id="rId19"/>
    <p:sldId id="327" r:id="rId20"/>
    <p:sldId id="328" r:id="rId21"/>
    <p:sldId id="292" r:id="rId22"/>
    <p:sldId id="330" r:id="rId23"/>
    <p:sldId id="331" r:id="rId24"/>
    <p:sldId id="329" r:id="rId25"/>
    <p:sldId id="28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94"/>
  </p:normalViewPr>
  <p:slideViewPr>
    <p:cSldViewPr snapToGrid="0">
      <p:cViewPr varScale="1">
        <p:scale>
          <a:sx n="87" d="100"/>
          <a:sy n="87" d="100"/>
        </p:scale>
        <p:origin x="5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27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Sameh" userId="00d6e182980eb0e7" providerId="LiveId" clId="{5F7F16C2-55FE-4103-A2B1-86308F8F59FB}"/>
    <pc:docChg chg="custSel modSld">
      <pc:chgData name="Omar Sameh" userId="00d6e182980eb0e7" providerId="LiveId" clId="{5F7F16C2-55FE-4103-A2B1-86308F8F59FB}" dt="2026-02-23T21:59:27.998" v="2" actId="478"/>
      <pc:docMkLst>
        <pc:docMk/>
      </pc:docMkLst>
      <pc:sldChg chg="delSp mod">
        <pc:chgData name="Omar Sameh" userId="00d6e182980eb0e7" providerId="LiveId" clId="{5F7F16C2-55FE-4103-A2B1-86308F8F59FB}" dt="2026-02-23T21:59:27.998" v="2" actId="478"/>
        <pc:sldMkLst>
          <pc:docMk/>
          <pc:sldMk cId="2445241430" sldId="312"/>
        </pc:sldMkLst>
        <pc:spChg chg="del">
          <ac:chgData name="Omar Sameh" userId="00d6e182980eb0e7" providerId="LiveId" clId="{5F7F16C2-55FE-4103-A2B1-86308F8F59FB}" dt="2026-02-23T21:59:27.998" v="2" actId="478"/>
          <ac:spMkLst>
            <pc:docMk/>
            <pc:sldMk cId="2445241430" sldId="312"/>
            <ac:spMk id="4" creationId="{8A688DCC-111F-DA4E-2486-412146C5205E}"/>
          </ac:spMkLst>
        </pc:spChg>
      </pc:sldChg>
      <pc:sldChg chg="delSp modSp mod">
        <pc:chgData name="Omar Sameh" userId="00d6e182980eb0e7" providerId="LiveId" clId="{5F7F16C2-55FE-4103-A2B1-86308F8F59FB}" dt="2026-02-23T21:59:25.667" v="1" actId="478"/>
        <pc:sldMkLst>
          <pc:docMk/>
          <pc:sldMk cId="3756095018" sldId="327"/>
        </pc:sldMkLst>
        <pc:spChg chg="del mod">
          <ac:chgData name="Omar Sameh" userId="00d6e182980eb0e7" providerId="LiveId" clId="{5F7F16C2-55FE-4103-A2B1-86308F8F59FB}" dt="2026-02-23T21:59:25.667" v="1" actId="478"/>
          <ac:spMkLst>
            <pc:docMk/>
            <pc:sldMk cId="3756095018" sldId="327"/>
            <ac:spMk id="4" creationId="{90AFAD0A-A01C-E011-9D5E-F816F2ECB70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7:12:59.39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234 437 24575,'1'-6'0,"-1"0"0,1 0 0,1 1 0,-1-1 0,1 0 0,0 1 0,0-1 0,4-7 0,29-45 0,-15 28 0,-5 4 0,-9 14 0,1 1 0,0-1 0,1 1 0,0 1 0,1-1 0,0 1 0,11-9 0,-9 7 0,0 0 0,0-1 0,-2-1 0,1 1 0,-2-1 0,0-1 0,0 0 0,6-19 0,-11 27 0,1-12 0,-14 25 0,-19 24 0,-3 9 0,-183 222 0,195-236 0,-24 24 0,36-41 0,0-1 0,-1 0 0,0 0 0,0-1 0,0 0 0,-18 8 0,-9 4 0,34-17 0,0 0 0,0 1 0,0-1 0,0 1 0,0-1 0,0 1 0,0 0 0,0 0 0,1 0 0,-1 0 0,1 0 0,-3 4 0,4-6 0,0 1 0,0-1 0,0 0 0,0 1 0,0-1 0,0 0 0,0 1 0,0-1 0,0 0 0,0 0 0,0 1 0,0-1 0,0 0 0,0 1 0,0-1 0,1 0 0,-1 1 0,0-1 0,0 0 0,0 0 0,0 1 0,1-1 0,-1 0 0,0 0 0,0 0 0,0 1 0,1-1 0,-1 0 0,0 0 0,0 0 0,1 1 0,-1-1 0,0 0 0,0 0 0,1 0 0,15 3 0,16-6 0,-2-6 0,1-2 0,-2-1 0,0-1 0,35-22 0,-39 22 0,-1-2 0,0 0 0,-1-1 0,-1-2 0,29-29 0,59-57 0,-110 103 0,1 1 0,-1-1 0,1 1 0,-1-1 0,0 1 0,1-1 0,-1 1 0,1 0 0,-1-1 0,1 1 0,0-1 0,-1 1 0,1 0 0,-1 0 0,1-1 0,0 1 0,-1 0 0,1 0 0,-1 0 0,1 0 0,0 0 0,-1-1 0,1 1 0,0 0 0,-1 1 0,1-1 0,0 0 0,-1 0 0,1 0 0,0 0 0,-1 0 0,1 1 0,-1-1 0,1 0 0,0 0 0,-1 1 0,1-1 0,-1 1 0,1-1 0,-1 0 0,1 1 0,-1-1 0,1 1 0,-1-1 0,0 1 0,1-1 0,-1 1 0,0 0 0,1-1 0,-1 1 0,0-1 0,1 1 0,-1 0 0,0-1 0,0 1 0,0 0 0,0-1 0,0 1 0,0 0 0,0-1 0,0 2 0,3 43 0,-4-34 0,-1 0 0,0 0 0,0 0 0,-1-1 0,-1 1 0,1-1 0,-9 16 0,-45 66 0,15-27 0,23-26 0,20-40 0,1-1 0,0 1 0,-1 0 0,1-1 0,-1 1 0,1-1 0,-1 0 0,0 1 0,1-1 0,-1 0 0,1-3 0,6-7 0,2 1 0,0-1 0,-1 0 0,0-1 0,-1 0 0,-1-1 0,0 0 0,-1 0 0,0 0 0,-1-1 0,0 0 0,-2 1 0,0-2 0,3-28 0,-6 43 0,0 1 0,0 0 0,0 0 0,0 0 0,0 0 0,0 0 0,0 0 0,0-1 0,0 1 0,0 0 0,0 0 0,0 0 0,0 0 0,0 0 0,0 0 0,0 0 0,0-1 0,0 1 0,-1 0 0,1 0 0,0 0 0,0 0 0,0 0 0,0 0 0,0 0 0,0 0 0,0-1 0,0 1 0,0 0 0,0 0 0,-1 0 0,1 0 0,0 0 0,0 0 0,0 0 0,0 0 0,0 0 0,0 0 0,-1 0 0,1 0 0,0 0 0,0 0 0,0 0 0,0 0 0,0 0 0,0 0 0,-1 0 0,1 0 0,0 0 0,0 0 0,0 0 0,0 0 0,0 0 0,0 0 0,0 0 0,-1 0 0,1 0 0,0 0 0,0 1 0,0-1 0,0 0 0,-11 9 0,-9 16 0,-33 72-1365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7:13:01.72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154 605 24575,'1'-8'0,"0"1"0,0 0 0,1 0 0,0 0 0,1 1 0,5-12 0,6-21 0,-6-2 0,-2 0 0,-2 0 0,-1-43 0,-3 48 0,2 0 0,1 1 0,1-1 0,17-61 0,-19 92 0,-1 2 0,0-1 0,0 1 0,0-1 0,0 1 0,0-1 0,1 1 0,0 0 0,0 0 0,0 0 0,0 0 0,0 0 0,0 0 0,1 0 0,-1 1 0,6-4 0,-7 5 0,-1 1 0,1 0 0,0 0 0,-1 1 0,1-1 0,0 0 0,-1 0 0,1 0 0,0 0 0,-1 0 0,1 1 0,-1-1 0,1 0 0,0 1 0,-1-1 0,1 0 0,-1 1 0,1-1 0,-1 1 0,1-1 0,-1 0 0,0 1 0,1-1 0,-1 1 0,1 0 0,-1-1 0,0 1 0,0-1 0,1 1 0,-1-1 0,0 1 0,0 0 0,0-1 0,1 1 0,-1 0 0,0-1 0,0 1 0,0 0 0,5 31 0,-5-30 0,4 293 0,-7-153 0,3-131 0,0-1 0,-1 1 0,0-1 0,0 1 0,-1-1 0,-1 0 0,0 0 0,0 0 0,-1 0 0,0-1 0,-1 1 0,0-1 0,0 0 0,-1 0 0,0-1 0,-11 12 0,-21 29 0,-4 5 0,38-51 0,1 0 0,0 0 0,-1 0 0,0 0 0,1-1 0,-1 1 0,0-1 0,0 0 0,0-1 0,-1 1 0,1-1 0,-6 2 0,8-3 0,0 0 0,0 0 0,0 0 0,0 0 0,0 0 0,0 0 0,0-1 0,0 1 0,0-1 0,0 0 0,1 1 0,-1-1 0,0 0 0,0 0 0,1 0 0,-1 0 0,1 0 0,-1 0 0,1-1 0,-1 1 0,1-1 0,0 1 0,-1-1 0,1 1 0,0-1 0,0 1 0,0-1 0,1 0 0,-2-2 0,-4-9 0,2 0 0,0 0 0,-4-19 0,-1 0 0,7 27 0,0-1 0,0 1 0,0-1 0,1 1 0,-1-1 0,1 0 0,1 1 0,-1-1 0,1-10 0,7 56 0,-6-17-118,1 9-506,11 52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7:13:05.9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81 24575,'0'7'0,"0"0"0,0 0 0,1 0 0,-1 0 0,2 1 0,-1-1 0,1 0 0,0-1 0,0 1 0,1 0 0,0-1 0,0 1 0,1-1 0,-1 0 0,1 0 0,1 0 0,-1 0 0,1-1 0,10 9 0,1 1 0,-9-8 0,0 0 0,1 0 0,-1-1 0,1 0 0,0 0 0,1-1 0,-1 0 0,1-1 0,0 0 0,0 0 0,1-1 0,14 4 0,-13-5 0,-3-1 0,0 1 0,0-1 0,1-1 0,-1 1 0,0-1 0,16-3 0,-22 3 0,-1-1 0,1 0 0,0 1 0,0-1 0,0 0 0,0-1 0,-1 1 0,1 0 0,0 0 0,-1-1 0,1 1 0,-1-1 0,0 1 0,1-1 0,-1 0 0,0 1 0,0-1 0,0 0 0,0 0 0,0 0 0,-1 0 0,1 0 0,0 0 0,-1 0 0,1 0 0,-1 0 0,0 0 0,0 0 0,0 0 0,0 0 0,0 0 0,-1-4 0,1-1 0,-1 0 0,0 1 0,0-1 0,-1 0 0,1 1 0,-1-1 0,-1 1 0,1-1 0,-1 1 0,-1 0 0,1 0 0,-1 0 0,-7-9 0,-3 1 0,0 0 0,-1 1 0,-22-15 0,33 25 0,-1-1 0,0 0 0,0 0 0,1-1 0,-1 0 0,1 0 0,-6-8 0,10 12 0,-1 0 0,0 0 0,1 0 0,-1 0 0,1 0 0,0 0 0,-1 0 0,1 0 0,-1 0 0,1 0 0,0 0 0,0 0 0,0 0 0,0 0 0,0 0 0,0 0 0,0 0 0,0 0 0,0 0 0,0 0 0,0 0 0,1 0 0,-1 0 0,0 0 0,1 0 0,-1 0 0,1 0 0,-1 0 0,1 0 0,-1 1 0,1-1 0,0 0 0,0 0 0,-1 0 0,1 1 0,0-1 0,0 0 0,0 1 0,-1-1 0,1 1 0,0-1 0,0 1 0,0 0 0,0-1 0,0 1 0,0 0 0,0-1 0,0 1 0,2 0 0,1-1-1,0 0 0,0 1 1,0 0-1,0-1 0,0 1 0,0 1 0,0-1 0,0 1 0,0-1 0,0 1 0,0 0 1,0 0-1,4 3 0,49 27 89,-47-23-568,2-1-1,20 9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1:37:25.75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1:38:05.17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389 539 24575,'-2'0'0,"0"0"0,1-1 0,-1 1 0,0-1 0,1 1 0,-1-1 0,0 1 0,1-1 0,-1 0 0,1 0 0,-1 0 0,1 0 0,-1 0 0,1 0 0,0-1 0,-1 1 0,1 0 0,0-1 0,0 1 0,0-1 0,-1-1 0,-18-38 0,14 25 0,1 4 0,1-1 0,0 0 0,1 1 0,0-1 0,1 0 0,-1-24 0,-2-15 0,5 52 0,0 0 0,0-1 0,0 1 0,0 0 0,0-1 0,0 1 0,0 0 0,0-1 0,0 1 0,0 0 0,0-1 0,0 1 0,-1 0 0,1 0 0,0-1 0,0 1 0,0 0 0,-1-1 0,1 1 0,0 0 0,0 0 0,0-1 0,-1 1 0,1 0 0,0 0 0,-1 0 0,1-1 0,0 1 0,0 0 0,-1 0 0,1 0 0,0 0 0,-1 0 0,1 0 0,0 0 0,-1 0 0,1-1 0,0 1 0,-1 0 0,1 0 0,-16 10 0,-13 25 0,26-31 0,-9 12 0,0 1 0,1 1 0,1 0 0,-12 30 0,50-72 0,-17 10 0,-1 0 0,9-18 0,-10 17 0,0 1 0,18-22 0,-19 25 0,0-1 0,-1 1 0,0-2 0,-1 1 0,-1-1 0,0 0 0,0 0 0,-1-1 0,-1 1 0,2-20 0,14-42 0,3 6 0,-87 346 0,64-276 0,1 0 0,-1 1 0,1-1 0,0 1 0,-1-1 0,1 1 0,0-1 0,0 1 0,0-1 0,0 1 0,0 0 0,0-1 0,1 1 0,-1-1 0,0 0 0,1 1 0,-1-1 0,1 1 0,1 1 0,-2-2 0,1 0 0,0-1 0,0 1 0,0-1 0,0 1 0,0-1 0,0 0 0,0 1 0,0-1 0,0 0 0,0 0 0,0 1 0,0-1 0,0 0 0,0 0 0,0 0 0,0 0 0,0-1 0,0 1 0,0 0 0,1-1 0,8-2 0,0-1 0,0 0 0,-1 0 0,12-8 0,-16 9 0,26-16 0,0-1 0,-1-1 0,41-38 0,-70 58 0,1 0 0,-1-1 0,0 1 0,0 0 0,0 0 0,0 0 0,0-1 0,0 1 0,0-1 0,0 1 0,0-1 0,-1 1 0,1-1 0,0 1 0,-1-1 0,0 0 0,1-3 0,-1 5 0,0-1 0,-1 0 0,1 0 0,0 1 0,-1-1 0,1 0 0,-1 0 0,1 1 0,0-1 0,-1 0 0,0 1 0,1-1 0,-1 1 0,1-1 0,-1 1 0,0-1 0,1 1 0,-1-1 0,0 1 0,0 0 0,1-1 0,-1 1 0,0 0 0,-1-1 0,-3 0 0,0 0 0,0 1 0,0-1 0,0 1 0,0 0 0,0 0 0,0 1 0,1-1 0,-1 1 0,-9 3 0,-16 10 0,1 1 0,0 2 0,2 0 0,-49 40 0,43-28 0,0 1 0,2 2 0,-39 50 0,57-64 0,-13 16 0,-59 60 0,81-89-136,0-1-1,0 1 1,0 0-1,0 0 1,1 1-1,0-1 1,0 1-1,0-1 0,-3 11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1:38:15.2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137 325 24575,'0'12'0,"-1"10"0,1 1 0,1-1 0,1 1 0,1-1 0,1 0 0,9 28 0,-2-19 0,-8-19 0,1 1 0,1-1 0,0 0 0,0-1 0,1 0 0,1 0 0,15 20 0,-13-19 0,1 1 0,12 23 0,-14-21 0,1-1 0,13 16 0,-19-26 0,1-1 0,-1 1 0,1-1 0,-1 0 0,1 0 0,0 0 0,0 0 0,1-1 0,-1 0 0,0 0 0,10 3 0,-13-4 0,1-1 0,-1 1 0,1-1 0,-1 1 0,1-1 0,-1 0 0,1 0 0,-1 0 0,1 0 0,-1 0 0,1 0 0,0 0 0,-1 0 0,1-1 0,-1 1 0,1 0 0,-1-1 0,1 0 0,-1 1 0,0-1 0,1 0 0,-1 1 0,0-1 0,1 0 0,-1 0 0,0 0 0,0 0 0,0-1 0,0 1 0,0 0 0,0 0 0,0 0 0,0-1 0,-1 1 0,1-1 0,0 1 0,-1 0 0,1-1 0,-1 1 0,1-1 0,-1-1 0,1-3 0,0 0 0,-1 1 0,0-1 0,0 0 0,-1 1 0,1-1 0,-1 1 0,0-1 0,-1 1 0,-1-7 0,-14-24 0,-2 2 0,-1 0 0,-46-58 0,53 74 0,-29-34 0,27 35 0,2 1 0,0-2 0,1 1 0,1-2 0,-15-31 0,13 20 0,-28-48 0,26 53 0,2 0 0,-19-47 0,25 50 0,2 8 0,0-1 0,-4-24 0,12 37 0,4 7 0,5 8 0,-4 1 0,-1 0 0,7 22 0,2 4 0,6 15 0,28 110 0,-5-13 0,-42-143 0,2-1 0,-1-1 0,1 1 0,1-1 0,-1 0 0,1 0 0,0 0 0,10 7 0,19 24 0,-24-24 0,1 1 0,0-2 0,1 0 0,0 0 0,18 12 0,53 50 0,-76-67 0,1-2 0,0 1 0,1-1 0,-1 0 0,1-1 0,0 0 0,1-1 0,-1 0 0,14 3 0,4 1 0,38 16 0,-14-5 0,-45-15 0,1 0 0,-1 0 0,0 1 0,-1-1 0,1 1 0,-1 1 0,0-1 0,0 1 0,-1 1 0,1-1 0,-1 1 0,-1-1 0,1 1 0,-1 1 0,4 9 0,-8-16 0,0 0 0,1 0 0,-1 0 0,0 1 0,0-1 0,0 0 0,1 0 0,-1 0 0,-1 1 0,1-1 0,0 0 0,0 0 0,0 0 0,-1 1 0,1-1 0,0 0 0,-1 0 0,1 0 0,-1 0 0,1 0 0,-1 0 0,0 0 0,1 0 0,-2 2 0,-1-2 0,1 1 0,0 0 0,-1-1 0,1 1 0,-1-1 0,1 0 0,-1 0 0,1 0 0,-1 0 0,-4 0 0,-8 1 0,0 0 0,-1-1 0,-17-1 0,23-1 0,-50 1 0,-83-4 0,129 2 0,1-1 0,-1-1 0,1 0 0,0-1 0,0 0 0,0-1 0,1-1 0,-24-15 0,17 10 0,0 0 0,-27-10 0,34 18 0,1-1 0,0-1 0,0 0 0,0 0 0,1-1 0,-17-15 0,22 18 0,1-1 0,-1 0 0,1 0 0,0 0 0,1 0 0,-1-1 0,1 1 0,0-1 0,1 0 0,-1 0 0,1 0 0,0 0 0,0-1 0,-1-10 0,3-137 0,2 94 0,-2 59 0,0 1 0,0 0 0,0 0 0,0 0 0,0 0 0,0 0 0,0 0 0,-1 0 0,1 0 0,0 0 0,0 0 0,0-1 0,0 1 0,0 0 0,0 0 0,0 0 0,0 0 0,0 0 0,0 0 0,0 0 0,0 0 0,0 0 0,0-1 0,0 1 0,1 0 0,-1 0 0,0 0 0,0 0 0,0 0 0,0 0 0,0 0 0,0 0 0,0 0 0,0 0 0,0 0 0,0-1 0,0 1 0,0 0 0,0 0 0,0 0 0,0 0 0,1 0 0,-1 0 0,0 0 0,0 0 0,0 0 0,0 0 0,0 0 0,0 0 0,0 0 0,0 0 0,0 0 0,1 0 0,-1 0 0,0 0 0,0 0 0,0 0 0,0 0 0,0 0 0,0 0 0,0 0 0,0 0 0,0 0 0,1 0 0,-1 0 0,0 0 0,0 0 0,0 1 0,7 8 0,8 19 0,-13-24 0,1 3 0,-1-3 0,-1-1 0,1 1 0,0-1 0,0 0 0,0 1 0,1-1 0,-1 0 0,1-1 0,4 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1:38:21.58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421 0 24575,'0'9'0,"0"22"0,-6 48 0,4-68 0,0 0 0,-1 0 0,0-1 0,-1 1 0,0-1 0,-1 0 0,-10 18 0,-3 3 0,14-22 0,-1-1 0,0 1 0,-1-1 0,0 0 0,0-1 0,-9 10 0,15-17 0,-1 1 0,1-1 0,0 1 0,-1-1 0,1 1 0,-1-1 0,1 0 0,-1 1 0,1-1 0,-1 0 0,1 1 0,-1-1 0,0 0 0,1 1 0,-1-1 0,1 0 0,-1 0 0,0 0 0,1 0 0,-1 0 0,0 0 0,1 0 0,-1 0 0,1 0 0,-1 0 0,0 0 0,1 0 0,-1 0 0,0 0 0,0-1 0,1 0 0,-1 0 0,0 1 0,1-1 0,0 0 0,-1 0 0,1 0 0,0 0 0,-1 0 0,1-1 0,0 1 0,0 0 0,0 0 0,0 0 0,0 0 0,0-2 0,10-41 0,-4 28 0,0 0 0,1 0 0,1 1 0,0 0 0,21-26 0,0-9 0,-2 1 0,-25 46 0,0 0 0,1 1 0,-1-1 0,1 0 0,0 1 0,-1-1 0,1 1 0,1 0 0,-1 0 0,0 0 0,7-3 0,-9 5 0,0-1 0,0 1 0,0-1 0,1 1 0,-1 0 0,0 0 0,0 0 0,0 0 0,0 0 0,0 0 0,1 0 0,-1 0 0,0 0 0,0 0 0,0 0 0,0 1 0,0-1 0,0 1 0,0-1 0,1 1 0,-1-1 0,0 1 0,1 1 0,0-1 0,-1 1 0,1 0 0,-1 0 0,1 0 0,-1 0 0,0 0 0,0 0 0,0 1 0,0-1 0,0 0 0,0 3 0,1 4 0,0 1 0,-1-1 0,0 0 0,-2 19 0,0-15 0,-1-1 0,-1 1 0,0-1 0,-1 0 0,0 0 0,-1 0 0,0-1 0,-1 1 0,-1-1 0,1-1 0,-2 1 0,1-1 0,-1 0 0,-1-1 0,0 0 0,0 0 0,-1-1 0,-19 13 0,26-19 0,-1-1 0,0 1 0,1-1 0,-1 1 0,0-1 0,0 0 0,0-1 0,1 1 0,-1-1 0,0 1 0,0-1 0,0 0 0,0-1 0,0 1 0,0-1 0,0 1 0,0-1 0,0 0 0,1-1 0,-1 1 0,0-1 0,1 1 0,-1-1 0,1 0 0,0-1 0,-1 1 0,1 0 0,0-1 0,0 0 0,1 0 0,-4-3 0,-3-5 0,1-1 0,0 0 0,1 0 0,0-1 0,0 0 0,2 0 0,-7-19 0,-38-100 0,37 107 0,5 20 0,1 17 0,5 1 0,0 0 0,1-1 0,0 17 0,1-18 0,0 0 0,-1 0 0,0 0 0,-5 18 0,5-26 0,0 1 0,0-1 0,-1 0 0,0 1 0,1-1 0,-1 0 0,0 0 0,-1-1 0,1 1 0,0 0 0,-1-1 0,0 1 0,1-1 0,-1 0 0,0 0 0,0 0 0,0 0 0,-6 2 0,-42 18 0,50-18 0,9-2 0,8 0 0,0-1-105,-6-1 145,0 1-1,1-1 1,-1-1 0,1 1 0,15-5-1,-23 4-86,-1 1 1,0-1-1,0 0 0,0 0 0,0 0 0,0 0 1,0 0-1,-1-1 0,1 1 0,0 0 0,0-1 0,-1 0 1,1 1-1,-1-1 0,0 0 0,1 0 0,-1 1 1,0-1-1,0 0 0,0 0 0,0-1 0,-1 1 0,1 0 1,0 0-1,-1 0 0,0 0 0,1-1 0,-1 1 0,0 0 1,0 0-1,-1-4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1:38:25.38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1:38:25.58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sowar</a:t>
            </a:r>
          </a:p>
        </p:txBody>
      </p:sp>
    </p:spTree>
    <p:extLst>
      <p:ext uri="{BB962C8B-B14F-4D97-AF65-F5344CB8AC3E}">
        <p14:creationId xmlns:p14="http://schemas.microsoft.com/office/powerpoint/2010/main" val="160070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Sowar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5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40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1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891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khaled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06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FBD2-8596-962B-55EB-9166A3C61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608F7-16B9-4A5A-0D99-7B2214348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E0413-9975-9CA4-D080-BA5E0D919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khaled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4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520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khaled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71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khaled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45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225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400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543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khaled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13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9F379-41E7-5549-E7B8-A7244D7D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4167C-FFE4-5849-F568-BFB7C4E96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F683F-2B5D-BF18-6806-C3872AC0E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khaled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7829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9C5A-B2D1-0D96-30D9-95DC9529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8C857-007C-5DB2-9C53-93BE8F797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6A18A-6B0E-ED5F-4BBC-B742336B6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khaled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499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0564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42470"/>
            <a:ext cx="5650753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365759" y="457200"/>
            <a:ext cx="4406267" cy="113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9848"/>
              </a:buClr>
              <a:buSzPts val="3200"/>
              <a:buFont typeface="Calibri"/>
              <a:buNone/>
              <a:defRPr sz="3200" b="0">
                <a:solidFill>
                  <a:srgbClr val="54984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5770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365759" y="1591293"/>
            <a:ext cx="4406267" cy="4277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" name="Google Shape;19;p2" descr="Picture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65759" y="365125"/>
            <a:ext cx="113944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365759" y="2037805"/>
            <a:ext cx="11394442" cy="4564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42470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 descr="Picture 9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53077"/>
            <a:ext cx="5650753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65759" y="396967"/>
            <a:ext cx="4406267" cy="107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9848"/>
              </a:buClr>
              <a:buSzPts val="3200"/>
              <a:buFont typeface="Calibri"/>
              <a:buNone/>
              <a:defRPr sz="3200" b="0">
                <a:solidFill>
                  <a:srgbClr val="54984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577013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365759" y="1472539"/>
            <a:ext cx="4406267" cy="439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" name="Google Shape;31;p4" descr="Picture 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4481" y="-344850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365759" y="365124"/>
            <a:ext cx="11394442" cy="6237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4481" y="-344850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53077"/>
            <a:ext cx="5650752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365759" y="396967"/>
            <a:ext cx="11394442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365759" y="1825625"/>
            <a:ext cx="56540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4" name="Google Shape;44;p6" descr="Picture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 descr="Picture 4"/>
          <p:cNvPicPr preferRelativeResize="0"/>
          <p:nvPr/>
        </p:nvPicPr>
        <p:blipFill rotWithShape="1">
          <a:blip r:embed="rId2">
            <a:alphaModFix/>
          </a:blip>
          <a:srcRect l="14782" r="1177" b="33070"/>
          <a:stretch/>
        </p:blipFill>
        <p:spPr>
          <a:xfrm>
            <a:off x="-66334" y="-224413"/>
            <a:ext cx="12258335" cy="7082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 descr="Picture 6"/>
          <p:cNvPicPr preferRelativeResize="0"/>
          <p:nvPr/>
        </p:nvPicPr>
        <p:blipFill rotWithShape="1">
          <a:blip r:embed="rId3">
            <a:alphaModFix/>
          </a:blip>
          <a:srcRect r="12112" b="13463"/>
          <a:stretch/>
        </p:blipFill>
        <p:spPr>
          <a:xfrm>
            <a:off x="7344353" y="710117"/>
            <a:ext cx="4831689" cy="615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 descr="Picture 7"/>
          <p:cNvPicPr preferRelativeResize="0"/>
          <p:nvPr/>
        </p:nvPicPr>
        <p:blipFill rotWithShape="1">
          <a:blip r:embed="rId4">
            <a:alphaModFix/>
          </a:blip>
          <a:srcRect l="26633" t="1500" b="11569"/>
          <a:stretch/>
        </p:blipFill>
        <p:spPr>
          <a:xfrm>
            <a:off x="-52252" y="-104503"/>
            <a:ext cx="5865223" cy="694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 descr="Picture 12"/>
          <p:cNvPicPr preferRelativeResize="0"/>
          <p:nvPr/>
        </p:nvPicPr>
        <p:blipFill rotWithShape="1">
          <a:blip r:embed="rId3">
            <a:alphaModFix/>
          </a:blip>
          <a:srcRect r="12112" b="13463"/>
          <a:stretch/>
        </p:blipFill>
        <p:spPr>
          <a:xfrm>
            <a:off x="7344353" y="701409"/>
            <a:ext cx="4831689" cy="615659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8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40495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 descr="Picture 6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5307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8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365759" y="396967"/>
            <a:ext cx="11394442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9848"/>
              </a:buClr>
              <a:buSzPts val="4400"/>
              <a:buFont typeface="Arial"/>
              <a:buNone/>
              <a:defRPr sz="4400" b="0">
                <a:solidFill>
                  <a:srgbClr val="54984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8" descr="Picture 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461816"/>
            <a:ext cx="4657725" cy="3524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9" descr="Picture 13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4454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 descr="Picture 10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4454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 descr="Picture 8"/>
          <p:cNvPicPr preferRelativeResize="0"/>
          <p:nvPr/>
        </p:nvPicPr>
        <p:blipFill rotWithShape="1">
          <a:blip r:embed="rId3">
            <a:alphaModFix/>
          </a:blip>
          <a:srcRect l="19399" t="1159" b="2872"/>
          <a:stretch/>
        </p:blipFill>
        <p:spPr>
          <a:xfrm>
            <a:off x="-1" y="-16779"/>
            <a:ext cx="8934995" cy="688784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5282891" y="3233734"/>
            <a:ext cx="6509307" cy="110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346"/>
              </a:buClr>
              <a:buSzPts val="7200"/>
              <a:buFont typeface="Arial"/>
              <a:buNone/>
              <a:defRPr sz="7200" b="0">
                <a:solidFill>
                  <a:srgbClr val="10234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5282891" y="4419336"/>
            <a:ext cx="6282268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5" name="Google Shape;65;p9" descr="Picture 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11637" y="-2755041"/>
            <a:ext cx="5591499" cy="77925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>
  <p:cSld name="Vertical Title and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 descr="Picture 9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4444" y="-353077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 descr="Picture 6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53077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0" descr="Picture 10"/>
          <p:cNvPicPr preferRelativeResize="0"/>
          <p:nvPr/>
        </p:nvPicPr>
        <p:blipFill rotWithShape="1">
          <a:blip r:embed="rId3">
            <a:alphaModFix/>
          </a:blip>
          <a:srcRect l="27355" t="66917" r="24008" b="23368"/>
          <a:stretch/>
        </p:blipFill>
        <p:spPr>
          <a:xfrm>
            <a:off x="3889984" y="5658463"/>
            <a:ext cx="4640828" cy="1199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10"/>
          <p:cNvGrpSpPr/>
          <p:nvPr/>
        </p:nvGrpSpPr>
        <p:grpSpPr>
          <a:xfrm>
            <a:off x="3452374" y="3317964"/>
            <a:ext cx="5304664" cy="915130"/>
            <a:chOff x="0" y="0"/>
            <a:chExt cx="5304662" cy="915128"/>
          </a:xfrm>
        </p:grpSpPr>
        <p:sp>
          <p:nvSpPr>
            <p:cNvPr id="73" name="Google Shape;73;p10"/>
            <p:cNvSpPr/>
            <p:nvPr/>
          </p:nvSpPr>
          <p:spPr>
            <a:xfrm>
              <a:off x="0" y="0"/>
              <a:ext cx="5304662" cy="915128"/>
            </a:xfrm>
            <a:prstGeom prst="rect">
              <a:avLst/>
            </a:prstGeom>
            <a:solidFill>
              <a:srgbClr val="102346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" name="Google Shape;74;p10" descr="image10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304662" cy="9151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5" name="Google Shape;75;p10" descr="Picture 12"/>
          <p:cNvPicPr preferRelativeResize="0"/>
          <p:nvPr/>
        </p:nvPicPr>
        <p:blipFill rotWithShape="1">
          <a:blip r:embed="rId5">
            <a:alphaModFix/>
          </a:blip>
          <a:srcRect t="31570" b="29953"/>
          <a:stretch/>
        </p:blipFill>
        <p:spPr>
          <a:xfrm>
            <a:off x="3678601" y="339633"/>
            <a:ext cx="4852212" cy="263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0" descr="Picture 13"/>
          <p:cNvPicPr preferRelativeResize="0"/>
          <p:nvPr/>
        </p:nvPicPr>
        <p:blipFill rotWithShape="1">
          <a:blip r:embed="rId6">
            <a:alphaModFix/>
          </a:blip>
          <a:srcRect l="26633" t="1500" b="11570"/>
          <a:stretch/>
        </p:blipFill>
        <p:spPr>
          <a:xfrm>
            <a:off x="-65315" y="-1"/>
            <a:ext cx="5865223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Picture 8"/>
          <p:cNvPicPr preferRelativeResize="0"/>
          <p:nvPr/>
        </p:nvPicPr>
        <p:blipFill rotWithShape="1">
          <a:blip r:embed="rId11">
            <a:alphaModFix/>
          </a:blip>
          <a:srcRect r="12118" b="13340"/>
          <a:stretch/>
        </p:blipFill>
        <p:spPr>
          <a:xfrm>
            <a:off x="6541248" y="-340494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 descr="Picture 7"/>
          <p:cNvPicPr preferRelativeResize="0"/>
          <p:nvPr/>
        </p:nvPicPr>
        <p:blipFill rotWithShape="1">
          <a:blip r:embed="rId11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365759" y="365125"/>
            <a:ext cx="113944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365759" y="2037805"/>
            <a:ext cx="11394442" cy="4564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" name="Google Shape;10;p1" descr="Picture 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1608907"/>
            <a:ext cx="5378245" cy="2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Picture 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36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35.png"/><Relationship Id="rId19" Type="http://schemas.openxmlformats.org/officeDocument/2006/relationships/image" Target="../media/image25.png"/><Relationship Id="rId4" Type="http://schemas.openxmlformats.org/officeDocument/2006/relationships/image" Target="../media/image320.png"/><Relationship Id="rId9" Type="http://schemas.openxmlformats.org/officeDocument/2006/relationships/customXml" Target="../ink/ink4.xml"/><Relationship Id="rId1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/>
        </p:nvSpPr>
        <p:spPr>
          <a:xfrm>
            <a:off x="5614000" y="2011898"/>
            <a:ext cx="5354100" cy="3367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rgbClr val="38761D"/>
                </a:solidFill>
              </a:rPr>
              <a:t>Title: Stroke-Type &amp; Quality Classification for Competitive Swimming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rgbClr val="38761D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rgbClr val="38761D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endParaRPr sz="5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 txBox="1"/>
          <p:nvPr/>
        </p:nvSpPr>
        <p:spPr>
          <a:xfrm>
            <a:off x="5614000" y="3522399"/>
            <a:ext cx="6190828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92500" lnSpcReduction="20000"/>
          </a:bodyPr>
          <a:lstStyle/>
          <a:p>
            <a:r>
              <a:rPr lang="en-US" sz="2464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Name:</a:t>
            </a:r>
          </a:p>
          <a:p>
            <a:r>
              <a:rPr lang="en-US" sz="2500" dirty="0"/>
              <a:t>Omar </a:t>
            </a:r>
            <a:r>
              <a:rPr lang="en-US" sz="2500" dirty="0" err="1"/>
              <a:t>Samh</a:t>
            </a:r>
            <a:r>
              <a:rPr lang="en-US" sz="2500" dirty="0"/>
              <a:t>  ID: 231969 – Major: Software Engineering</a:t>
            </a:r>
          </a:p>
          <a:p>
            <a:r>
              <a:rPr lang="en-US" sz="2500" dirty="0"/>
              <a:t>Khaled Amr  ID: 237857 – Major: Software Engineering</a:t>
            </a:r>
          </a:p>
          <a:p>
            <a:pPr marR="0" lvl="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</a:pP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  <p:pic>
        <p:nvPicPr>
          <p:cNvPr id="2" name="Picture 1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67A80A83-95DB-A5F0-BB4B-48C137643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07" b="16807"/>
          <a:stretch/>
        </p:blipFill>
        <p:spPr>
          <a:xfrm>
            <a:off x="9413630" y="0"/>
            <a:ext cx="2723315" cy="1177675"/>
          </a:xfrm>
          <a:prstGeom prst="rect">
            <a:avLst/>
          </a:prstGeom>
        </p:spPr>
      </p:pic>
      <p:pic>
        <p:nvPicPr>
          <p:cNvPr id="3" name="Picture 2" descr="A circular logo with a head and text&#10;&#10;Description automatically generated">
            <a:extLst>
              <a:ext uri="{FF2B5EF4-FFF2-40B4-BE49-F238E27FC236}">
                <a16:creationId xmlns:a16="http://schemas.microsoft.com/office/drawing/2014/main" id="{BADA7F01-CB2B-C5E9-A52A-B445BC215A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273" y="105809"/>
            <a:ext cx="1070361" cy="1070361"/>
          </a:xfrm>
          <a:prstGeom prst="rect">
            <a:avLst/>
          </a:prstGeom>
        </p:spPr>
      </p:pic>
      <p:pic>
        <p:nvPicPr>
          <p:cNvPr id="4" name="Picture 3" descr="A gold logo with black background&#10;&#10;Description automatically generated">
            <a:extLst>
              <a:ext uri="{FF2B5EF4-FFF2-40B4-BE49-F238E27FC236}">
                <a16:creationId xmlns:a16="http://schemas.microsoft.com/office/drawing/2014/main" id="{9DAFB2A7-43A1-50A2-337B-FBB0577BA1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10" y="105809"/>
            <a:ext cx="1623523" cy="1070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CF8CB2-0D40-BD55-B5B4-470F4C5E2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7086" y="5178160"/>
            <a:ext cx="5395428" cy="1018120"/>
          </a:xfrm>
          <a:prstGeom prst="rect">
            <a:avLst/>
          </a:prstGeom>
        </p:spPr>
      </p:pic>
      <p:pic>
        <p:nvPicPr>
          <p:cNvPr id="8" name="Picture 7" descr="A green square with white text and a heart and pulse&#10;&#10;AI-generated content may be incorrect.">
            <a:extLst>
              <a:ext uri="{FF2B5EF4-FFF2-40B4-BE49-F238E27FC236}">
                <a16:creationId xmlns:a16="http://schemas.microsoft.com/office/drawing/2014/main" id="{97ED68A2-A45F-513A-3F0E-CE59694567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735" y="977316"/>
            <a:ext cx="625899" cy="625899"/>
          </a:xfrm>
          <a:prstGeom prst="rect">
            <a:avLst/>
          </a:prstGeom>
        </p:spPr>
      </p:pic>
      <p:pic>
        <p:nvPicPr>
          <p:cNvPr id="9" name="Picture 8" descr="A red sign with a book and pencil&#10;&#10;AI-generated content may be incorrect.">
            <a:extLst>
              <a:ext uri="{FF2B5EF4-FFF2-40B4-BE49-F238E27FC236}">
                <a16:creationId xmlns:a16="http://schemas.microsoft.com/office/drawing/2014/main" id="{715C708C-CEC1-CDE8-DEE3-0FE1DE5037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6320" y="977316"/>
            <a:ext cx="625900" cy="625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E223EB-3252-4AEA-B1AC-9FCC2431BF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5382" y="-222925"/>
            <a:ext cx="1623523" cy="16235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BF662-53D1-4CE3-8F8A-B899F66AF35C}"/>
              </a:ext>
            </a:extLst>
          </p:cNvPr>
          <p:cNvSpPr txBox="1"/>
          <p:nvPr/>
        </p:nvSpPr>
        <p:spPr>
          <a:xfrm>
            <a:off x="7300912" y="5990233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E655-30E2-4A64-8B93-1CD85319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Table of content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F89842-426F-03AF-156E-0615713F2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143919"/>
              </p:ext>
            </p:extLst>
          </p:nvPr>
        </p:nvGraphicFramePr>
        <p:xfrm>
          <a:off x="691369" y="2041684"/>
          <a:ext cx="10743222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3670">
                  <a:extLst>
                    <a:ext uri="{9D8B030D-6E8A-4147-A177-3AD203B41FA5}">
                      <a16:colId xmlns:a16="http://schemas.microsoft.com/office/drawing/2014/main" val="1458687956"/>
                    </a:ext>
                  </a:extLst>
                </a:gridCol>
                <a:gridCol w="1577404">
                  <a:extLst>
                    <a:ext uri="{9D8B030D-6E8A-4147-A177-3AD203B41FA5}">
                      <a16:colId xmlns:a16="http://schemas.microsoft.com/office/drawing/2014/main" val="3050586014"/>
                    </a:ext>
                  </a:extLst>
                </a:gridCol>
                <a:gridCol w="1790537">
                  <a:extLst>
                    <a:ext uri="{9D8B030D-6E8A-4147-A177-3AD203B41FA5}">
                      <a16:colId xmlns:a16="http://schemas.microsoft.com/office/drawing/2014/main" val="2084640364"/>
                    </a:ext>
                  </a:extLst>
                </a:gridCol>
                <a:gridCol w="1790537">
                  <a:extLst>
                    <a:ext uri="{9D8B030D-6E8A-4147-A177-3AD203B41FA5}">
                      <a16:colId xmlns:a16="http://schemas.microsoft.com/office/drawing/2014/main" val="3322623896"/>
                    </a:ext>
                  </a:extLst>
                </a:gridCol>
                <a:gridCol w="1790537">
                  <a:extLst>
                    <a:ext uri="{9D8B030D-6E8A-4147-A177-3AD203B41FA5}">
                      <a16:colId xmlns:a16="http://schemas.microsoft.com/office/drawing/2014/main" val="2789862283"/>
                    </a:ext>
                  </a:extLst>
                </a:gridCol>
                <a:gridCol w="1790537">
                  <a:extLst>
                    <a:ext uri="{9D8B030D-6E8A-4147-A177-3AD203B41FA5}">
                      <a16:colId xmlns:a16="http://schemas.microsoft.com/office/drawing/2014/main" val="3561877763"/>
                    </a:ext>
                  </a:extLst>
                </a:gridCol>
              </a:tblGrid>
              <a:tr h="784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40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01.</a:t>
                      </a:r>
                      <a:endParaRPr lang="en" sz="40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02.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03.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04.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05.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06.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909993"/>
                  </a:ext>
                </a:extLst>
              </a:tr>
              <a:tr h="784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Introduction &amp; Background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Problem statement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Motivation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Challenges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Objective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Literature Review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343571"/>
                  </a:ext>
                </a:extLst>
              </a:tr>
            </a:tbl>
          </a:graphicData>
        </a:graphic>
      </p:graphicFrame>
      <p:sp>
        <p:nvSpPr>
          <p:cNvPr id="8" name="Google Shape;85;p11">
            <a:extLst>
              <a:ext uri="{FF2B5EF4-FFF2-40B4-BE49-F238E27FC236}">
                <a16:creationId xmlns:a16="http://schemas.microsoft.com/office/drawing/2014/main" id="{C0E78F29-886C-0B88-989A-2F75303A8F03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82FE17A-B6F0-BBEE-CA35-0BE7ABC4D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278508"/>
              </p:ext>
            </p:extLst>
          </p:nvPr>
        </p:nvGraphicFramePr>
        <p:xfrm>
          <a:off x="0" y="4017774"/>
          <a:ext cx="12085812" cy="1897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070">
                  <a:extLst>
                    <a:ext uri="{9D8B030D-6E8A-4147-A177-3AD203B41FA5}">
                      <a16:colId xmlns:a16="http://schemas.microsoft.com/office/drawing/2014/main" val="1458687956"/>
                    </a:ext>
                  </a:extLst>
                </a:gridCol>
                <a:gridCol w="1774534">
                  <a:extLst>
                    <a:ext uri="{9D8B030D-6E8A-4147-A177-3AD203B41FA5}">
                      <a16:colId xmlns:a16="http://schemas.microsoft.com/office/drawing/2014/main" val="3050586014"/>
                    </a:ext>
                  </a:extLst>
                </a:gridCol>
                <a:gridCol w="2014302">
                  <a:extLst>
                    <a:ext uri="{9D8B030D-6E8A-4147-A177-3AD203B41FA5}">
                      <a16:colId xmlns:a16="http://schemas.microsoft.com/office/drawing/2014/main" val="2084640364"/>
                    </a:ext>
                  </a:extLst>
                </a:gridCol>
                <a:gridCol w="2014302">
                  <a:extLst>
                    <a:ext uri="{9D8B030D-6E8A-4147-A177-3AD203B41FA5}">
                      <a16:colId xmlns:a16="http://schemas.microsoft.com/office/drawing/2014/main" val="3322623896"/>
                    </a:ext>
                  </a:extLst>
                </a:gridCol>
                <a:gridCol w="2014302">
                  <a:extLst>
                    <a:ext uri="{9D8B030D-6E8A-4147-A177-3AD203B41FA5}">
                      <a16:colId xmlns:a16="http://schemas.microsoft.com/office/drawing/2014/main" val="2789862283"/>
                    </a:ext>
                  </a:extLst>
                </a:gridCol>
                <a:gridCol w="2014302">
                  <a:extLst>
                    <a:ext uri="{9D8B030D-6E8A-4147-A177-3AD203B41FA5}">
                      <a16:colId xmlns:a16="http://schemas.microsoft.com/office/drawing/2014/main" val="3561877763"/>
                    </a:ext>
                  </a:extLst>
                </a:gridCol>
              </a:tblGrid>
              <a:tr h="921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40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07.</a:t>
                      </a:r>
                      <a:endParaRPr lang="en" sz="40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08.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09.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10.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11.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" sz="4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12.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909993"/>
                  </a:ext>
                </a:extLst>
              </a:tr>
              <a:tr h="784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System Architecture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Datasets</a:t>
                      </a:r>
                      <a:endParaRPr 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Methodology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Demo Results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Expected Outcome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dirty="0"/>
                        <a:t>Roles &amp; Contributions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343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261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14A0-FCEB-B948-0E96-35042F95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65125"/>
            <a:ext cx="11394442" cy="1325563"/>
          </a:xfrm>
        </p:spPr>
        <p:txBody>
          <a:bodyPr wrap="square"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2708E-AA72-FAF8-B433-121B4D1AE94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65759" y="1881188"/>
            <a:ext cx="5506721" cy="4352544"/>
          </a:xfrm>
        </p:spPr>
        <p:txBody>
          <a:bodyPr anchor="t">
            <a:normAutofit/>
          </a:bodyPr>
          <a:lstStyle/>
          <a:p>
            <a:pPr marL="50800" indent="0">
              <a:buNone/>
            </a:pPr>
            <a:r>
              <a:rPr lang="en-US" dirty="0">
                <a:effectLst/>
              </a:rPr>
              <a:t>Swimming is a popular low-impact sport. However, poor technique in </a:t>
            </a:r>
            <a:r>
              <a:rPr lang="en-US" b="1" dirty="0">
                <a:effectLst/>
              </a:rPr>
              <a:t>freestyle, butterfly, and breaststroke</a:t>
            </a:r>
            <a:r>
              <a:rPr lang="en-US" dirty="0">
                <a:effectLst/>
              </a:rPr>
              <a:t> often causes shoulder, elbow, and lower-back injuries.</a:t>
            </a:r>
          </a:p>
          <a:p>
            <a:pPr marL="50800" indent="0">
              <a:buNone/>
            </a:pPr>
            <a:r>
              <a:rPr lang="en-US" dirty="0">
                <a:effectLst/>
              </a:rPr>
              <a:t>Traditional coaching relies on visual observation, limited by water refraction, poor underwater visibility, and inability to monitor multiple swimmers simultaneously. Wearable IMU sensors offer a privacy-aware, low-cost alternative enabling automated, objective feedback in real training conditions.</a:t>
            </a:r>
          </a:p>
        </p:txBody>
      </p:sp>
      <p:pic>
        <p:nvPicPr>
          <p:cNvPr id="5" name="butterfly strok2" descr="A person swimming in a pool&#10;&#10;AI-generated content may be incorrect.">
            <a:hlinkClick r:id="" action="ppaction://media"/>
            <a:extLst>
              <a:ext uri="{FF2B5EF4-FFF2-40B4-BE49-F238E27FC236}">
                <a16:creationId xmlns:a16="http://schemas.microsoft.com/office/drawing/2014/main" id="{2530F5C1-40F9-68C2-4BC1-5AB13698F0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63005" y="2518220"/>
            <a:ext cx="5506721" cy="30975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5;p11">
            <a:extLst>
              <a:ext uri="{FF2B5EF4-FFF2-40B4-BE49-F238E27FC236}">
                <a16:creationId xmlns:a16="http://schemas.microsoft.com/office/drawing/2014/main" id="{8E73ABE9-F706-4BAA-AB46-4803926B9162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82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7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E4D6-673A-8349-13EA-4DB81A54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51E6-BE15-E90A-DC58-B74BECC7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Motivation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D3991-A7A5-7553-AC9D-B2AA4EF8E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8991B-DD2B-6AE3-8D17-4BF9D40BD2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54523D-CBF2-B6D5-6A31-73D447891779}"/>
              </a:ext>
            </a:extLst>
          </p:cNvPr>
          <p:cNvSpPr txBox="1">
            <a:spLocks/>
          </p:cNvSpPr>
          <p:nvPr/>
        </p:nvSpPr>
        <p:spPr>
          <a:xfrm>
            <a:off x="88899" y="2108810"/>
            <a:ext cx="7729728" cy="406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Short discussion with Dr. </a:t>
            </a:r>
            <a:r>
              <a:rPr lang="en-US" dirty="0" err="1"/>
              <a:t>Emam</a:t>
            </a:r>
            <a:r>
              <a:rPr lang="en-US" dirty="0"/>
              <a:t> Talaat &amp; Mohamed Soliman, owners of </a:t>
            </a:r>
            <a:r>
              <a:rPr lang="en-US" dirty="0">
                <a:solidFill>
                  <a:srgbClr val="FF0000"/>
                </a:solidFill>
              </a:rPr>
              <a:t>Hola Swimming Academy</a:t>
            </a:r>
          </a:p>
          <a:p>
            <a:r>
              <a:rPr lang="en-US" dirty="0"/>
              <a:t>Shared our idea for a swimming performance analysis system </a:t>
            </a:r>
          </a:p>
          <a:p>
            <a:r>
              <a:rPr lang="en-US" dirty="0"/>
              <a:t>Granted permission to collect and test data in the academy’s pool</a:t>
            </a:r>
          </a:p>
          <a:p>
            <a:r>
              <a:rPr lang="en-US" dirty="0"/>
              <a:t>Encouraged us to continue developing the system for real-world applications</a:t>
            </a:r>
          </a:p>
          <a:p>
            <a:r>
              <a:rPr lang="en-US" dirty="0">
                <a:effectLst/>
              </a:rPr>
              <a:t>Two IEEE 2026 papers accepted: Stroke-Type Recognition and Quality Classification — see </a:t>
            </a:r>
            <a:r>
              <a:rPr lang="en-US" dirty="0">
                <a:solidFill>
                  <a:srgbClr val="FF0000"/>
                </a:solidFill>
                <a:effectLst/>
              </a:rPr>
              <a:t>IEEE 3SCEA 2026</a:t>
            </a:r>
            <a:r>
              <a:rPr lang="en-US" dirty="0">
                <a:effectLst/>
              </a:rPr>
              <a:t> — validating the full end-to-end pipeline from stroke recognition to quality assessment.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Two men standing next to a pool&#10;&#10;AI-generated content may be incorrect.">
            <a:extLst>
              <a:ext uri="{FF2B5EF4-FFF2-40B4-BE49-F238E27FC236}">
                <a16:creationId xmlns:a16="http://schemas.microsoft.com/office/drawing/2014/main" id="{9D0CA6BC-2641-29A1-EBD5-011279E43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736" y="0"/>
            <a:ext cx="5091442" cy="67885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A78353-7A6A-5D25-708F-E754F1436D5B}"/>
              </a:ext>
            </a:extLst>
          </p:cNvPr>
          <p:cNvSpPr/>
          <p:nvPr/>
        </p:nvSpPr>
        <p:spPr>
          <a:xfrm>
            <a:off x="7994736" y="0"/>
            <a:ext cx="5180669" cy="678858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>
                  <a:tint val="44500"/>
                  <a:satMod val="160000"/>
                  <a:alpha val="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32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70A3-A788-4996-806A-BA7034108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Objectives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C379E-199E-4ABA-ADB4-89A9C00F7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59" y="2123530"/>
            <a:ext cx="11394442" cy="3867695"/>
          </a:xfrm>
        </p:spPr>
        <p:txBody>
          <a:bodyPr/>
          <a:lstStyle/>
          <a:p>
            <a:r>
              <a:rPr lang="en-US" dirty="0"/>
              <a:t>Classify freestyle, butterfly, and breaststroke automatically using a single 6-axis wrist IMU at 100 Hz — </a:t>
            </a:r>
            <a:r>
              <a:rPr lang="en-US" dirty="0">
                <a:solidFill>
                  <a:srgbClr val="FF0000"/>
                </a:solidFill>
              </a:rPr>
              <a:t>freestyle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butterfly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breast </a:t>
            </a:r>
            <a:r>
              <a:rPr lang="en-US" dirty="0"/>
              <a:t>achieving 99.6% accuracy on custom data</a:t>
            </a:r>
          </a:p>
          <a:p>
            <a:r>
              <a:rPr lang="en-US" dirty="0"/>
              <a:t>Classify stroke quality (Good/Bad) using two pipelines: a model-based GRU quality classifier and a feature-extraction pipeline with calibration-based rules</a:t>
            </a:r>
          </a:p>
          <a:p>
            <a:r>
              <a:rPr lang="en-US" dirty="0"/>
              <a:t>Deliver objective per-stroke quality feedback automatically uploaded to athlete profiles on Supabase for longitudinal tracking</a:t>
            </a:r>
          </a:p>
          <a:p>
            <a:r>
              <a:rPr lang="en-US" dirty="0">
                <a:effectLst/>
              </a:rPr>
              <a:t>Evaluate both quality pipelines on a held-out test set of 23 sessions across </a:t>
            </a:r>
            <a:r>
              <a:rPr lang="en-US" dirty="0">
                <a:solidFill>
                  <a:srgbClr val="FF0000"/>
                </a:solidFill>
                <a:effectLst/>
              </a:rPr>
              <a:t>professional swimmers</a:t>
            </a:r>
            <a:r>
              <a:rPr lang="en-US" dirty="0">
                <a:effectLst/>
              </a:rPr>
              <a:t> skill levels (professional, medium, beginner) — achieving 82.61% accuracy with the feature-extraction pipeline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F9FA6-72AC-491A-B1EF-041EBC67E1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E238-3CBC-8365-9FA1-11290C50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9C754-3DC9-254F-DA8D-4C9EC882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Problem Statement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F3882-42D6-C581-5651-E45950F12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59" y="2037805"/>
            <a:ext cx="11394442" cy="3750599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High Injury Risk in Swimming</a:t>
            </a:r>
            <a:r>
              <a:rPr lang="en-US" dirty="0"/>
              <a:t>: Poor stroke patterns frequently cause overuse </a:t>
            </a:r>
            <a:r>
              <a:rPr lang="en-US" dirty="0">
                <a:solidFill>
                  <a:srgbClr val="FF0000"/>
                </a:solidFill>
              </a:rPr>
              <a:t>injuries</a:t>
            </a:r>
            <a:r>
              <a:rPr lang="en-US" dirty="0"/>
              <a:t> (shoulder, elbow, lower back) in competitive and intermediate swimmers.</a:t>
            </a:r>
          </a:p>
          <a:p>
            <a:r>
              <a:rPr lang="en-US" b="1" dirty="0"/>
              <a:t>Coaching Limitations</a:t>
            </a:r>
            <a:r>
              <a:rPr lang="en-US" dirty="0"/>
              <a:t>: Traditional observation struggles with </a:t>
            </a:r>
            <a:r>
              <a:rPr lang="en-US" dirty="0">
                <a:solidFill>
                  <a:srgbClr val="FF0000"/>
                </a:solidFill>
              </a:rPr>
              <a:t>real-time detection </a:t>
            </a:r>
            <a:r>
              <a:rPr lang="en-US" dirty="0"/>
              <a:t>especially underwater due to visibility issues and multi-swimmer monitoring challenges.</a:t>
            </a:r>
          </a:p>
          <a:p>
            <a:r>
              <a:rPr lang="en-US" b="1" dirty="0"/>
              <a:t>Delayed &amp; Subjective Feedback</a:t>
            </a:r>
            <a:r>
              <a:rPr lang="en-US" dirty="0"/>
              <a:t>: Swimmers lack immediate, objective alerts on movements likely to cause injury, increasing repeated harmful patterns.</a:t>
            </a:r>
          </a:p>
        </p:txBody>
      </p:sp>
      <p:sp>
        <p:nvSpPr>
          <p:cNvPr id="5" name="Google Shape;85;p11">
            <a:extLst>
              <a:ext uri="{FF2B5EF4-FFF2-40B4-BE49-F238E27FC236}">
                <a16:creationId xmlns:a16="http://schemas.microsoft.com/office/drawing/2014/main" id="{33C0ACC0-2B33-47FB-B145-73348376F895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 descr="A green square with white text and a heart and pulse&#10;&#10;AI-generated content may be incorrect.">
            <a:extLst>
              <a:ext uri="{FF2B5EF4-FFF2-40B4-BE49-F238E27FC236}">
                <a16:creationId xmlns:a16="http://schemas.microsoft.com/office/drawing/2014/main" id="{61519D67-963E-4073-BA12-53B86D29D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360" y="495713"/>
            <a:ext cx="1111365" cy="1111365"/>
          </a:xfrm>
          <a:prstGeom prst="rect">
            <a:avLst/>
          </a:prstGeom>
        </p:spPr>
      </p:pic>
      <p:pic>
        <p:nvPicPr>
          <p:cNvPr id="9" name="Picture 8" descr="A red sign with a book and pencil&#10;&#10;AI-generated content may be incorrect.">
            <a:extLst>
              <a:ext uri="{FF2B5EF4-FFF2-40B4-BE49-F238E27FC236}">
                <a16:creationId xmlns:a16="http://schemas.microsoft.com/office/drawing/2014/main" id="{903E12D8-ADB2-4275-AA15-2F505E1D25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876" y="495712"/>
            <a:ext cx="1111365" cy="111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38BA3-1458-12B7-0BE0-069E8BC0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F8C7-2009-AAC7-6EAA-0A30BA953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65125"/>
            <a:ext cx="5158741" cy="1325563"/>
          </a:xfrm>
        </p:spPr>
        <p:txBody>
          <a:bodyPr wrap="square"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Related Work (1/3)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157BBC-030A-ADC2-334E-BBA90C8397F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65759" y="1881188"/>
            <a:ext cx="11516461" cy="4352544"/>
          </a:xfrm>
        </p:spPr>
        <p:txBody>
          <a:bodyPr anchor="t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cap="none" dirty="0">
                <a:solidFill>
                  <a:schemeClr val="tx1"/>
                </a:solidFill>
              </a:rPr>
              <a:t>Overview: </a:t>
            </a:r>
            <a:r>
              <a:rPr lang="en-US" sz="2400" b="0" i="0" u="none" strike="noStrike" cap="none" dirty="0">
                <a:solidFill>
                  <a:schemeClr val="tx1"/>
                </a:solidFill>
              </a:rPr>
              <a:t>Uses IMU + heart rate sensors to classify swimming strokes in real time. Helps coaches prevent injuries with fast performance feedback.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b="0" i="0" u="none" strike="noStrike" cap="non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cap="none" dirty="0">
                <a:solidFill>
                  <a:schemeClr val="tx1"/>
                </a:solidFill>
              </a:rPr>
              <a:t>Limitations: </a:t>
            </a:r>
            <a:r>
              <a:rPr lang="en-US" sz="2400" b="0" i="0" u="none" strike="noStrike" cap="none" dirty="0">
                <a:solidFill>
                  <a:schemeClr val="tx1"/>
                </a:solidFill>
              </a:rPr>
              <a:t>Needs many sensors → expensive. Tested mostly on young swimmers.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b="0" i="0" u="none" strike="noStrike" cap="non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cap="none" dirty="0">
                <a:solidFill>
                  <a:schemeClr val="tx1"/>
                </a:solidFill>
              </a:rPr>
              <a:t>Methodologies: </a:t>
            </a:r>
            <a:r>
              <a:rPr lang="en-US" sz="2400" b="0" i="0" u="none" strike="noStrike" cap="none" dirty="0">
                <a:solidFill>
                  <a:schemeClr val="tx1"/>
                </a:solidFill>
              </a:rPr>
              <a:t>IMU data + filtering, Discrete Wavelet Transform features(DWT), Random Forest classifier (best one).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b="0" i="0" u="none" strike="noStrike" cap="non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cap="none" dirty="0">
                <a:solidFill>
                  <a:schemeClr val="tx1"/>
                </a:solidFill>
              </a:rPr>
              <a:t>Results: </a:t>
            </a:r>
            <a:r>
              <a:rPr lang="en-US" sz="2400" b="0" i="0" u="none" strike="noStrike" cap="none" dirty="0">
                <a:solidFill>
                  <a:schemeClr val="tx1"/>
                </a:solidFill>
              </a:rPr>
              <a:t>95.02% macro F1-score (Random Forest). Very good real-time help in pool training.</a:t>
            </a:r>
          </a:p>
        </p:txBody>
      </p:sp>
      <p:sp>
        <p:nvSpPr>
          <p:cNvPr id="7" name="Google Shape;85;p11">
            <a:extLst>
              <a:ext uri="{FF2B5EF4-FFF2-40B4-BE49-F238E27FC236}">
                <a16:creationId xmlns:a16="http://schemas.microsoft.com/office/drawing/2014/main" id="{390729EA-1182-4A62-94E0-D87782BD1CCE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9027E-BC67-45CF-A7B6-8E0488C3CFA2}"/>
              </a:ext>
            </a:extLst>
          </p:cNvPr>
          <p:cNvSpPr txBox="1"/>
          <p:nvPr/>
        </p:nvSpPr>
        <p:spPr>
          <a:xfrm>
            <a:off x="5524500" y="734752"/>
            <a:ext cx="65989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600" b="1" dirty="0">
                <a:solidFill>
                  <a:schemeClr val="tx1"/>
                </a:solidFill>
              </a:rPr>
              <a:t>J. Costa et al., "Framework for Intelligent Swimming Analytics with Wearable Sensors for Stroke Classification,"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600" dirty="0">
                <a:solidFill>
                  <a:schemeClr val="tx1"/>
                </a:solidFill>
              </a:rPr>
              <a:t>Sensors, vol. 21, no. 15, p. 5162, 2021.DOI: 10.3390/s21155162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275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13B88-35BD-2F51-D142-19B77D48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1FB9-F4AC-75A6-BCA1-81E2D5A5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65125"/>
            <a:ext cx="4863466" cy="1325563"/>
          </a:xfrm>
        </p:spPr>
        <p:txBody>
          <a:bodyPr/>
          <a:lstStyle/>
          <a:p>
            <a:r>
              <a:rPr lang="en-US" dirty="0"/>
              <a:t>Related Work (2/3)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B8F5F-0301-10FE-7A3B-1CF6C904A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59" y="2037805"/>
            <a:ext cx="7273291" cy="412810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Overview</a:t>
            </a:r>
            <a:r>
              <a:rPr lang="en-US" sz="2400" dirty="0"/>
              <a:t>: IMU data + ML to classify swimming as "competent" (good/safe) or "incompetent" (bad/risky) in real time helps prevent injuries.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Limitations</a:t>
            </a:r>
            <a:r>
              <a:rPr lang="en-US" sz="2400" dirty="0"/>
              <a:t>: Basic good/bad only. Needs more real-pool tests on different swimmers.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Methodologies</a:t>
            </a:r>
            <a:r>
              <a:rPr lang="en-US" sz="2400" dirty="0"/>
              <a:t>: IMU motion capture, Random Forest and other ML classifiers, real-time processing.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Results</a:t>
            </a:r>
            <a:r>
              <a:rPr lang="en-US" sz="2400" dirty="0"/>
              <a:t>: 92–95% accuracy in detecting good vs bad technique. Strong for spotting risky movements early.</a:t>
            </a:r>
          </a:p>
          <a:p>
            <a:endParaRPr lang="en-US" sz="2400" dirty="0"/>
          </a:p>
        </p:txBody>
      </p:sp>
      <p:sp>
        <p:nvSpPr>
          <p:cNvPr id="7" name="Google Shape;85;p11">
            <a:extLst>
              <a:ext uri="{FF2B5EF4-FFF2-40B4-BE49-F238E27FC236}">
                <a16:creationId xmlns:a16="http://schemas.microsoft.com/office/drawing/2014/main" id="{B9BE6CDB-5F6E-45AE-995F-41DC417095F0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919D8-4AC4-443A-AF38-C34FF23980D9}"/>
              </a:ext>
            </a:extLst>
          </p:cNvPr>
          <p:cNvSpPr txBox="1"/>
          <p:nvPr/>
        </p:nvSpPr>
        <p:spPr>
          <a:xfrm>
            <a:off x="5593082" y="613470"/>
            <a:ext cx="65989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600" b="1" dirty="0">
                <a:solidFill>
                  <a:schemeClr val="tx1"/>
                </a:solidFill>
              </a:rPr>
              <a:t>L. Powell et al., "The Real-Time Classification of Competency Swimming Activity...,"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600" dirty="0">
                <a:solidFill>
                  <a:schemeClr val="tx1"/>
                </a:solidFill>
              </a:rPr>
              <a:t>Int. J. Aquatic Res. Educ., vol. 14, no. 1, Article 6, 2023. DOI: 10.25035/ijare.14.01.06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6DBFD-EAAE-4840-8E42-9AD96F8EE4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75" r="43964" b="17069"/>
          <a:stretch/>
        </p:blipFill>
        <p:spPr>
          <a:xfrm>
            <a:off x="7639050" y="1750774"/>
            <a:ext cx="4336009" cy="470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77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14CAB-AE5C-6F8A-188A-A2E495C9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B6EF-BF7F-7756-9FAC-3F57EB59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 (3/3)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E35DA-C88A-503E-3A34-1DD5ABA8F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075D5A-CFFD-655E-F0A0-3D91DA598EDC}"/>
              </a:ext>
            </a:extLst>
          </p:cNvPr>
          <p:cNvSpPr txBox="1">
            <a:spLocks/>
          </p:cNvSpPr>
          <p:nvPr/>
        </p:nvSpPr>
        <p:spPr>
          <a:xfrm>
            <a:off x="365759" y="2037804"/>
            <a:ext cx="7480383" cy="3891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400" b="1" dirty="0"/>
              <a:t>Overview</a:t>
            </a:r>
            <a:r>
              <a:rPr lang="en-US" sz="2400" dirty="0"/>
              <a:t>: Single IMU + deep learning recognizes 8 swimming activities and lap times → supports safe training.</a:t>
            </a:r>
          </a:p>
          <a:p>
            <a:r>
              <a:rPr lang="en-US" sz="2400" b="1" dirty="0"/>
              <a:t>Limitations</a:t>
            </a:r>
            <a:r>
              <a:rPr lang="en-US" sz="2400" dirty="0"/>
              <a:t>: IMU on back (not wrist). Big differences between swimmers.</a:t>
            </a:r>
          </a:p>
          <a:p>
            <a:r>
              <a:rPr lang="en-US" sz="2400" b="1" dirty="0"/>
              <a:t>Methodologies</a:t>
            </a:r>
            <a:r>
              <a:rPr lang="en-US" sz="2400" dirty="0"/>
              <a:t>: Gyro + accelerometer data; deep learning model; tested vs video.</a:t>
            </a:r>
          </a:p>
          <a:p>
            <a:r>
              <a:rPr lang="en-US" sz="2400" b="1" dirty="0"/>
              <a:t>Results</a:t>
            </a:r>
            <a:r>
              <a:rPr lang="en-US" sz="2400" dirty="0"/>
              <a:t>: 96% F1-score (0.96). Lap time error: 1.15% (start), 1% (middle), 4.07% (end).</a:t>
            </a:r>
          </a:p>
        </p:txBody>
      </p:sp>
      <p:sp>
        <p:nvSpPr>
          <p:cNvPr id="8" name="Google Shape;85;p11">
            <a:extLst>
              <a:ext uri="{FF2B5EF4-FFF2-40B4-BE49-F238E27FC236}">
                <a16:creationId xmlns:a16="http://schemas.microsoft.com/office/drawing/2014/main" id="{B2944660-D534-4278-9846-919EB7C1D499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557B8-F431-4A63-951D-AB39D3122209}"/>
              </a:ext>
            </a:extLst>
          </p:cNvPr>
          <p:cNvSpPr txBox="1"/>
          <p:nvPr/>
        </p:nvSpPr>
        <p:spPr>
          <a:xfrm>
            <a:off x="5737861" y="731105"/>
            <a:ext cx="6598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600" b="1" dirty="0">
                <a:solidFill>
                  <a:schemeClr val="tx1"/>
                </a:solidFill>
              </a:rPr>
              <a:t>E. </a:t>
            </a:r>
            <a:r>
              <a:rPr lang="en-US" sz="1600" b="1" dirty="0" err="1">
                <a:solidFill>
                  <a:schemeClr val="tx1"/>
                </a:solidFill>
              </a:rPr>
              <a:t>Delhaye</a:t>
            </a:r>
            <a:r>
              <a:rPr lang="en-US" sz="1600" b="1" dirty="0">
                <a:solidFill>
                  <a:schemeClr val="tx1"/>
                </a:solidFill>
              </a:rPr>
              <a:t> et al., "Automatic Swimming Activity Recognition...," </a:t>
            </a:r>
            <a:r>
              <a:rPr lang="en-US" sz="1600" dirty="0">
                <a:solidFill>
                  <a:schemeClr val="tx1"/>
                </a:solidFill>
              </a:rPr>
              <a:t>Sensors, vol. 22, no. 15, p. 5786, 2022. DOI: 10.3390/s22155786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DADB55-834D-470C-93B6-8EF81FC82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100" y="1367710"/>
            <a:ext cx="4848900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8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A838-7117-1CF8-DBCA-D0F2DDD9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A38DC-BCF1-D981-4B06-12B3D8465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8D04A-FB0C-DC96-2657-03E0C45478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B62883-88AB-1E61-4B7F-6C32E4ABA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292421"/>
              </p:ext>
            </p:extLst>
          </p:nvPr>
        </p:nvGraphicFramePr>
        <p:xfrm>
          <a:off x="814871" y="2206853"/>
          <a:ext cx="10338816" cy="4028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704">
                  <a:extLst>
                    <a:ext uri="{9D8B030D-6E8A-4147-A177-3AD203B41FA5}">
                      <a16:colId xmlns:a16="http://schemas.microsoft.com/office/drawing/2014/main" val="794517671"/>
                    </a:ext>
                  </a:extLst>
                </a:gridCol>
                <a:gridCol w="2584704">
                  <a:extLst>
                    <a:ext uri="{9D8B030D-6E8A-4147-A177-3AD203B41FA5}">
                      <a16:colId xmlns:a16="http://schemas.microsoft.com/office/drawing/2014/main" val="4263336568"/>
                    </a:ext>
                  </a:extLst>
                </a:gridCol>
                <a:gridCol w="2584704">
                  <a:extLst>
                    <a:ext uri="{9D8B030D-6E8A-4147-A177-3AD203B41FA5}">
                      <a16:colId xmlns:a16="http://schemas.microsoft.com/office/drawing/2014/main" val="806726916"/>
                    </a:ext>
                  </a:extLst>
                </a:gridCol>
                <a:gridCol w="2584704">
                  <a:extLst>
                    <a:ext uri="{9D8B030D-6E8A-4147-A177-3AD203B41FA5}">
                      <a16:colId xmlns:a16="http://schemas.microsoft.com/office/drawing/2014/main" val="3527753361"/>
                    </a:ext>
                  </a:extLst>
                </a:gridCol>
              </a:tblGrid>
              <a:tr h="64184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Best Result 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Simple Meaning 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Helps Injury Prevention ?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81922"/>
                  </a:ext>
                </a:extLst>
              </a:tr>
              <a:tr h="641841">
                <a:tc>
                  <a:txBody>
                    <a:bodyPr/>
                    <a:lstStyle/>
                    <a:p>
                      <a:r>
                        <a:rPr lang="en-US" dirty="0"/>
                        <a:t>Paper 1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95.02% F1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Very good stroke classification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A bit (better monitoring)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367673"/>
                  </a:ext>
                </a:extLst>
              </a:tr>
              <a:tr h="641841">
                <a:tc>
                  <a:txBody>
                    <a:bodyPr/>
                    <a:lstStyle/>
                    <a:p>
                      <a:r>
                        <a:rPr lang="en-US" dirty="0"/>
                        <a:t>Paper 2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92-95% </a:t>
                      </a:r>
                      <a:r>
                        <a:rPr lang="en-US" dirty="0">
                          <a:effectLst/>
                        </a:rPr>
                        <a:t>accuracy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Spots good vs bad technique fast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A lot (finds risky moves)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290689"/>
                  </a:ext>
                </a:extLst>
              </a:tr>
              <a:tr h="641841">
                <a:tc>
                  <a:txBody>
                    <a:bodyPr/>
                    <a:lstStyle/>
                    <a:p>
                      <a:r>
                        <a:rPr lang="en-US" dirty="0"/>
                        <a:t>Paper 3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effectLst/>
                        </a:rPr>
                        <a:t>96% F1 + 1–4% </a:t>
                      </a:r>
                      <a:r>
                        <a:rPr lang="es-ES" dirty="0" err="1">
                          <a:effectLst/>
                        </a:rPr>
                        <a:t>lap</a:t>
                      </a:r>
                      <a:r>
                        <a:rPr lang="es-ES" dirty="0">
                          <a:effectLst/>
                        </a:rPr>
                        <a:t> error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Almost perfect activity + timing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A bit (accurate tracking)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49939"/>
                  </a:ext>
                </a:extLst>
              </a:tr>
              <a:tr h="641841">
                <a:tc>
                  <a:txBody>
                    <a:bodyPr/>
                    <a:lstStyle/>
                    <a:p>
                      <a:r>
                        <a:rPr lang="en-US" dirty="0"/>
                        <a:t>Our Work ( GRU-LSTM)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97% accuracy (on mixed real-world dataset with swimming + daily activities)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Very high accuracy in classifying butterfly, freestyle and breaststroke strokes using a single wrist-worn sensor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A lot (provides reliable stroke identification as foundation for future injury-risk analysis)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993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04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41EF4-2370-0E39-D533-1D7F5768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F8FA-EFE1-46A2-8F1B-F0412ECA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A4B86-09E6-F57F-31F9-CAE2762663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15401" y="6233857"/>
            <a:ext cx="2844800" cy="3683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95993A-5ECD-4715-B8EA-EF472F12E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853394"/>
            <a:ext cx="11534775" cy="474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5FEA-4019-26A4-2A3E-F4218B51D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B816-3962-982F-39CB-1CAC0867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  </a:t>
            </a:r>
          </a:p>
        </p:txBody>
      </p:sp>
      <p:sp>
        <p:nvSpPr>
          <p:cNvPr id="15" name="Google Shape;85;p11">
            <a:extLst>
              <a:ext uri="{FF2B5EF4-FFF2-40B4-BE49-F238E27FC236}">
                <a16:creationId xmlns:a16="http://schemas.microsoft.com/office/drawing/2014/main" id="{1A5CAEE1-331E-4E34-8651-BD80E6D74740}"/>
              </a:ext>
            </a:extLst>
          </p:cNvPr>
          <p:cNvSpPr txBox="1">
            <a:spLocks/>
          </p:cNvSpPr>
          <p:nvPr/>
        </p:nvSpPr>
        <p:spPr>
          <a:xfrm>
            <a:off x="8915301" y="6309285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C7896A2-C263-4792-B367-6166A1127693}"/>
                  </a:ext>
                </a:extLst>
              </p14:cNvPr>
              <p14:cNvContentPartPr/>
              <p14:nvPr/>
            </p14:nvContentPartPr>
            <p14:xfrm>
              <a:off x="11914680" y="5583360"/>
              <a:ext cx="196920" cy="202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C7896A2-C263-4792-B367-6166A11276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79040" y="5547360"/>
                <a:ext cx="2685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7858568-7B7E-F673-BD66-9869039F4864}"/>
                  </a:ext>
                </a:extLst>
              </p14:cNvPr>
              <p14:cNvContentPartPr/>
              <p14:nvPr/>
            </p14:nvContentPartPr>
            <p14:xfrm>
              <a:off x="12004680" y="2739000"/>
              <a:ext cx="107280" cy="287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7858568-7B7E-F673-BD66-9869039F48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69040" y="2703000"/>
                <a:ext cx="17892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001928-6CA4-9722-EFEF-74D3CEDD89E3}"/>
                  </a:ext>
                </a:extLst>
              </p14:cNvPr>
              <p14:cNvContentPartPr/>
              <p14:nvPr/>
            </p14:nvContentPartPr>
            <p14:xfrm>
              <a:off x="284160" y="5670840"/>
              <a:ext cx="124560" cy="112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001928-6CA4-9722-EFEF-74D3CEDD89E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8520" y="5634840"/>
                <a:ext cx="1962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134F692-24BB-67B9-2FAA-0D6BCF0E392A}"/>
                  </a:ext>
                </a:extLst>
              </p14:cNvPr>
              <p14:cNvContentPartPr/>
              <p14:nvPr/>
            </p14:nvContentPartPr>
            <p14:xfrm>
              <a:off x="10596720" y="490728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134F692-24BB-67B9-2FAA-0D6BCF0E39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61080" y="487128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CC341ED-3AC7-C7DF-3F3E-1840998516A2}"/>
                  </a:ext>
                </a:extLst>
              </p14:cNvPr>
              <p14:cNvContentPartPr/>
              <p14:nvPr/>
            </p14:nvContentPartPr>
            <p14:xfrm>
              <a:off x="93720" y="2498520"/>
              <a:ext cx="215640" cy="225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CC341ED-3AC7-C7DF-3F3E-1840998516A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720" y="2462880"/>
                <a:ext cx="28728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DD27662-E9D1-328B-6021-D7B68835F3BE}"/>
                  </a:ext>
                </a:extLst>
              </p14:cNvPr>
              <p14:cNvContentPartPr/>
              <p14:nvPr/>
            </p14:nvContentPartPr>
            <p14:xfrm>
              <a:off x="174360" y="5593080"/>
              <a:ext cx="290160" cy="37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DD27662-E9D1-328B-6021-D7B68835F3B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8360" y="5557440"/>
                <a:ext cx="36180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375E6E3-5B59-612A-B307-D5DEC6A51FD8}"/>
                  </a:ext>
                </a:extLst>
              </p14:cNvPr>
              <p14:cNvContentPartPr/>
              <p14:nvPr/>
            </p14:nvContentPartPr>
            <p14:xfrm>
              <a:off x="11918640" y="5821680"/>
              <a:ext cx="183240" cy="121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375E6E3-5B59-612A-B307-D5DEC6A51FD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882640" y="5785680"/>
                <a:ext cx="254880" cy="19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E3059082-05AA-B6EA-E79E-6E444BD2D139}"/>
              </a:ext>
            </a:extLst>
          </p:cNvPr>
          <p:cNvGrpSpPr/>
          <p:nvPr/>
        </p:nvGrpSpPr>
        <p:grpSpPr>
          <a:xfrm>
            <a:off x="12090000" y="2539920"/>
            <a:ext cx="360" cy="360"/>
            <a:chOff x="12090000" y="253992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111F265-BAFB-76AB-8C3F-321D439DED6D}"/>
                    </a:ext>
                  </a:extLst>
                </p14:cNvPr>
                <p14:cNvContentPartPr/>
                <p14:nvPr/>
              </p14:nvContentPartPr>
              <p14:xfrm>
                <a:off x="12090000" y="253992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111F265-BAFB-76AB-8C3F-321D439DED6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054360" y="250392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E9C0F9-957D-F798-3DED-1CA3B7690F1B}"/>
                    </a:ext>
                  </a:extLst>
                </p14:cNvPr>
                <p14:cNvContentPartPr/>
                <p14:nvPr/>
              </p14:nvContentPartPr>
              <p14:xfrm>
                <a:off x="12090000" y="2539920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E9C0F9-957D-F798-3DED-1CA3B7690F1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054360" y="250392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E2884D8-BB33-331A-21DE-652DE280DD2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2632804"/>
            <a:ext cx="12192000" cy="300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289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A71CA-A1DD-EBC2-C522-8EBA656E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3022-12F2-07CD-8D3A-1F30AD70C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65125"/>
            <a:ext cx="11394442" cy="1325563"/>
          </a:xfrm>
        </p:spPr>
        <p:txBody>
          <a:bodyPr wrap="square" anchor="ctr"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Dataset (our data)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A0951-ED9D-678C-7728-3C0EC39795B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65759" y="1881188"/>
            <a:ext cx="11516461" cy="4352544"/>
          </a:xfrm>
        </p:spPr>
        <p:txBody>
          <a:bodyPr anchor="t"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b="1" i="0" u="none" strike="noStrike" cap="none" dirty="0">
                <a:solidFill>
                  <a:schemeClr val="tx1"/>
                </a:solidFill>
              </a:rPr>
              <a:t>Data Collection</a:t>
            </a:r>
            <a:r>
              <a:rPr lang="en-US" sz="2000" i="0" u="none" strike="noStrike" cap="none" dirty="0">
                <a:solidFill>
                  <a:schemeClr val="tx1"/>
                </a:solidFill>
              </a:rPr>
              <a:t>: 17 swimmers total (7 professional, 5 medium, 5 beginner) using a custom mobile app communicating with a single wrist-mounted 6-axis IMU. Sessions recorded above water for safety and supervision.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000" i="0" u="none" strike="noStrike" cap="non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b="1" i="0" u="none" strike="noStrike" cap="none" dirty="0">
                <a:solidFill>
                  <a:schemeClr val="tx1"/>
                </a:solidFill>
              </a:rPr>
              <a:t>Sensor Data</a:t>
            </a:r>
            <a:r>
              <a:rPr lang="en-US" sz="2000" i="0" u="none" strike="noStrike" cap="none" dirty="0">
                <a:solidFill>
                  <a:schemeClr val="tx1"/>
                </a:solidFill>
              </a:rPr>
              <a:t>: 6-axis IMU (accelerometer + gyroscope)  ax, ay, </a:t>
            </a:r>
            <a:r>
              <a:rPr lang="en-US" sz="2000" i="0" u="none" strike="noStrike" cap="none" dirty="0" err="1">
                <a:solidFill>
                  <a:schemeClr val="tx1"/>
                </a:solidFill>
              </a:rPr>
              <a:t>az</a:t>
            </a:r>
            <a:r>
              <a:rPr lang="en-US" sz="2000" i="0" u="none" strike="noStrike" cap="none" dirty="0">
                <a:solidFill>
                  <a:schemeClr val="tx1"/>
                </a:solidFill>
              </a:rPr>
              <a:t>, </a:t>
            </a:r>
            <a:r>
              <a:rPr lang="en-US" sz="2000" i="0" u="none" strike="noStrike" cap="none" dirty="0" err="1">
                <a:solidFill>
                  <a:schemeClr val="tx1"/>
                </a:solidFill>
              </a:rPr>
              <a:t>wx</a:t>
            </a:r>
            <a:r>
              <a:rPr lang="en-US" sz="2000" i="0" u="none" strike="noStrike" cap="none" dirty="0">
                <a:solidFill>
                  <a:schemeClr val="tx1"/>
                </a:solidFill>
              </a:rPr>
              <a:t>, </a:t>
            </a:r>
            <a:r>
              <a:rPr lang="en-US" sz="2000" i="0" u="none" strike="noStrike" cap="none" dirty="0" err="1">
                <a:solidFill>
                  <a:schemeClr val="tx1"/>
                </a:solidFill>
              </a:rPr>
              <a:t>wy</a:t>
            </a:r>
            <a:r>
              <a:rPr lang="en-US" sz="2000" i="0" u="none" strike="noStrike" cap="none" dirty="0">
                <a:solidFill>
                  <a:schemeClr val="tx1"/>
                </a:solidFill>
              </a:rPr>
              <a:t>, </a:t>
            </a:r>
            <a:r>
              <a:rPr lang="en-US" sz="2000" i="0" u="none" strike="noStrike" cap="none" dirty="0" err="1">
                <a:solidFill>
                  <a:schemeClr val="tx1"/>
                </a:solidFill>
              </a:rPr>
              <a:t>wz</a:t>
            </a:r>
            <a:r>
              <a:rPr lang="en-US" sz="2000" i="0" u="none" strike="noStrike" cap="none" dirty="0">
                <a:solidFill>
                  <a:schemeClr val="tx1"/>
                </a:solidFill>
              </a:rPr>
              <a:t> (measures motion for accurate stroke analysis).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000" i="0" u="none" strike="noStrike" cap="non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b="1" i="0" u="none" strike="noStrike" cap="none" dirty="0">
                <a:solidFill>
                  <a:schemeClr val="tx1"/>
                </a:solidFill>
              </a:rPr>
              <a:t>Stroke Types</a:t>
            </a:r>
            <a:r>
              <a:rPr lang="en-US" sz="2000" i="0" u="none" strike="noStrike" cap="none" dirty="0">
                <a:solidFill>
                  <a:schemeClr val="tx1"/>
                </a:solidFill>
              </a:rPr>
              <a:t>: Breaststroke, Butterfly, Freestyle. 90 sessions (30 per type) for stroke-type recognition; quality labels (Low / Moderate / Moderate-High / High) assigned by experts for quality classification.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000" b="1" i="0" u="none" strike="noStrike" cap="non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b="1" i="0" u="none" strike="noStrike" cap="none" dirty="0">
                <a:solidFill>
                  <a:schemeClr val="tx1"/>
                </a:solidFill>
              </a:rPr>
              <a:t>Dataset Size</a:t>
            </a:r>
            <a:r>
              <a:rPr lang="en-US" sz="2000" i="0" u="none" strike="noStrike" cap="none" dirty="0">
                <a:solidFill>
                  <a:schemeClr val="tx1"/>
                </a:solidFill>
              </a:rPr>
              <a:t>: 90 sessions for stroke-type training; 23 held-out labeled sessions for quality evaluation. Accelerometer at 100 Hz, gyroscope at 60 Hz (interpolated to 100 Hz). Each session auto-uploaded as raw CSV to Supabase.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000" i="0" u="none" strike="noStrike" cap="none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b="1" i="0" u="none" strike="noStrike" cap="none" dirty="0">
                <a:solidFill>
                  <a:schemeClr val="tx1"/>
                </a:solidFill>
              </a:rPr>
              <a:t>Data Quality</a:t>
            </a:r>
            <a:r>
              <a:rPr lang="en-US" sz="2000" i="0" u="none" strike="noStrike" cap="none" dirty="0">
                <a:solidFill>
                  <a:schemeClr val="tx1"/>
                </a:solidFill>
              </a:rPr>
              <a:t>: Multi-level skill distribution (professional to beginner) ensures the system generalizes across skill levels. Session logs automatically posted to individual athlete profiles for longitudinal tracking.</a:t>
            </a:r>
          </a:p>
        </p:txBody>
      </p:sp>
      <p:sp>
        <p:nvSpPr>
          <p:cNvPr id="6" name="Google Shape;85;p11">
            <a:extLst>
              <a:ext uri="{FF2B5EF4-FFF2-40B4-BE49-F238E27FC236}">
                <a16:creationId xmlns:a16="http://schemas.microsoft.com/office/drawing/2014/main" id="{E2F36B9A-63D5-4295-804B-AABDB9C510CA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021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FE093-4263-FE4F-F8C9-D0136A34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36C11-3AE5-DD00-EBE9-0E7C0476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D9DC-65CE-6F58-64A8-1EFEBCA1C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Common Model Elements (All Models)</a:t>
            </a:r>
          </a:p>
          <a:p>
            <a:pPr lvl="1"/>
            <a:r>
              <a:rPr lang="en-US" b="1" dirty="0"/>
              <a:t>Data Prep</a:t>
            </a:r>
            <a:r>
              <a:rPr lang="en-US" dirty="0"/>
              <a:t>: 6D IMU input (accel + gyro) in 250-step windows, Butterworth filter and outlier removal for cleaning, </a:t>
            </a:r>
            <a:r>
              <a:rPr lang="en-US" dirty="0" err="1"/>
              <a:t>StandardScaler</a:t>
            </a:r>
            <a:r>
              <a:rPr lang="en-US" dirty="0"/>
              <a:t> normalization, augmentation (rotation, scaling, warping, noise).</a:t>
            </a:r>
          </a:p>
          <a:p>
            <a:pPr lvl="1"/>
            <a:r>
              <a:rPr lang="en-US" b="1" dirty="0"/>
              <a:t>Training Setup</a:t>
            </a:r>
            <a:r>
              <a:rPr lang="en-US" dirty="0"/>
              <a:t>: 70/30 split, Adam optimizer + </a:t>
            </a:r>
            <a:r>
              <a:rPr lang="en-US" dirty="0" err="1"/>
              <a:t>CrossEntropyLoss</a:t>
            </a:r>
            <a:r>
              <a:rPr lang="en-US" dirty="0"/>
              <a:t>, 50 epochs, batch 64, early stopping, 5-fold CV for generalization.</a:t>
            </a:r>
          </a:p>
          <a:p>
            <a:pPr lvl="1"/>
            <a:r>
              <a:rPr lang="en-US" b="1" dirty="0"/>
              <a:t>Application Focus</a:t>
            </a:r>
            <a:r>
              <a:rPr lang="en-US" dirty="0"/>
              <a:t>: Classify stroke types (freestyle, breaststroke, butterfly) then evaluate stroke quality (Good/Bad) using two pipelines: model-based GRU classifier and a feature-extraction pipeline with calibration rules.</a:t>
            </a:r>
          </a:p>
        </p:txBody>
      </p:sp>
      <p:sp>
        <p:nvSpPr>
          <p:cNvPr id="5" name="Google Shape;85;p11">
            <a:extLst>
              <a:ext uri="{FF2B5EF4-FFF2-40B4-BE49-F238E27FC236}">
                <a16:creationId xmlns:a16="http://schemas.microsoft.com/office/drawing/2014/main" id="{91B97F83-74F2-490B-AC5B-84D820B6D865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520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28A3-2CA8-78B5-20BF-59BE8665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7DA4-8EBF-1A25-B0CC-A11352F4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5681E-00B0-612C-A6CD-CC82C3813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GRU Model Usage</a:t>
            </a:r>
          </a:p>
          <a:p>
            <a:pPr lvl="1"/>
            <a:r>
              <a:rPr lang="en-US" b="1" dirty="0"/>
              <a:t>Processing</a:t>
            </a:r>
            <a:r>
              <a:rPr lang="en-US" dirty="0"/>
              <a:t>: Windows to 2 GRU layers (128 units) for features, FC layers (128→64→classes) with </a:t>
            </a:r>
            <a:r>
              <a:rPr lang="en-US" dirty="0" err="1"/>
              <a:t>softmax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Application</a:t>
            </a:r>
            <a:r>
              <a:rPr lang="en-US" dirty="0"/>
              <a:t>: Identifies stroke types.</a:t>
            </a:r>
          </a:p>
        </p:txBody>
      </p:sp>
      <p:sp>
        <p:nvSpPr>
          <p:cNvPr id="5" name="Google Shape;85;p11">
            <a:extLst>
              <a:ext uri="{FF2B5EF4-FFF2-40B4-BE49-F238E27FC236}">
                <a16:creationId xmlns:a16="http://schemas.microsoft.com/office/drawing/2014/main" id="{CC2B50FC-0F45-4ACF-9FAB-7685851DA0C4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80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28A3-2CA8-78B5-20BF-59BE8665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7DA4-8EBF-1A25-B0CC-A11352F4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5681E-00B0-612C-A6CD-CC82C3813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DCNN-</a:t>
            </a:r>
            <a:r>
              <a:rPr lang="en-US" b="1" dirty="0" err="1">
                <a:effectLst/>
              </a:rPr>
              <a:t>BiLSTM</a:t>
            </a:r>
            <a:r>
              <a:rPr lang="en-US" b="1" dirty="0">
                <a:effectLst/>
              </a:rPr>
              <a:t> Model Usage</a:t>
            </a:r>
          </a:p>
          <a:p>
            <a:pPr lvl="1"/>
            <a:r>
              <a:rPr lang="en-US" b="1" dirty="0"/>
              <a:t>Processing</a:t>
            </a:r>
            <a:r>
              <a:rPr lang="en-US" dirty="0"/>
              <a:t>: 3-layer CNN extracts locals. </a:t>
            </a:r>
            <a:r>
              <a:rPr lang="en-US" dirty="0" err="1"/>
              <a:t>BiLSTM</a:t>
            </a:r>
            <a:r>
              <a:rPr lang="en-US" dirty="0"/>
              <a:t> (128 units) adds context. Multi-Head Attention and pooling (avg/max/var). FC with </a:t>
            </a:r>
            <a:r>
              <a:rPr lang="en-US" dirty="0" err="1"/>
              <a:t>softmax</a:t>
            </a:r>
            <a:r>
              <a:rPr lang="en-US" dirty="0"/>
              <a:t> and confidence.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Application</a:t>
            </a:r>
            <a:r>
              <a:rPr lang="en-US" dirty="0"/>
              <a:t>: Detects types with unknown threshold.</a:t>
            </a:r>
          </a:p>
        </p:txBody>
      </p:sp>
      <p:sp>
        <p:nvSpPr>
          <p:cNvPr id="5" name="Google Shape;85;p11">
            <a:extLst>
              <a:ext uri="{FF2B5EF4-FFF2-40B4-BE49-F238E27FC236}">
                <a16:creationId xmlns:a16="http://schemas.microsoft.com/office/drawing/2014/main" id="{CC2B50FC-0F45-4ACF-9FAB-7685851DA0C4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274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28A3-2CA8-78B5-20BF-59BE8665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7DA4-8EBF-1A25-B0CC-A11352F4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5681E-00B0-612C-A6CD-CC82C3813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GRU-LSTM Model Usage (Best Model)</a:t>
            </a:r>
          </a:p>
          <a:p>
            <a:pPr lvl="1"/>
            <a:r>
              <a:rPr lang="en-US" b="1" dirty="0"/>
              <a:t>Segmentation &amp; Processing</a:t>
            </a:r>
            <a:r>
              <a:rPr lang="en-US" dirty="0"/>
              <a:t>: Gyro magnitude peaks isolate strokes. GRU (2 layers, 128 units) + LSTM (2 layers, 128 units) for features/memory. 4-head Attention weights time steps. FC (64→32→classes) with </a:t>
            </a:r>
            <a:r>
              <a:rPr lang="en-US" dirty="0" err="1"/>
              <a:t>softmax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Application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Top performer chosen as main</a:t>
            </a:r>
            <a:r>
              <a:rPr lang="en-US" dirty="0"/>
              <a:t>. Classifies stroke types with 99.6% accuracy on custom professional data and 91.0% on the 21-class real-world dataset (KU-HAR + swimming). Serves as the backbone of the stroke-type recognition pipeline feeding into quality classification.</a:t>
            </a:r>
          </a:p>
        </p:txBody>
      </p:sp>
      <p:sp>
        <p:nvSpPr>
          <p:cNvPr id="5" name="Google Shape;85;p11">
            <a:extLst>
              <a:ext uri="{FF2B5EF4-FFF2-40B4-BE49-F238E27FC236}">
                <a16:creationId xmlns:a16="http://schemas.microsoft.com/office/drawing/2014/main" id="{CC2B50FC-0F45-4ACF-9FAB-7685851DA0C4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05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876E1-F3A8-DCB6-BA24-B35E55081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BD65-EA6E-F56D-EC4B-5B3937DD8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E5E20-9E15-891F-44D7-CA329311F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E8CFACC-189C-87FB-FEF1-BFF19EF3151A}"/>
              </a:ext>
            </a:extLst>
          </p:cNvPr>
          <p:cNvSpPr txBox="1">
            <a:spLocks/>
          </p:cNvSpPr>
          <p:nvPr/>
        </p:nvSpPr>
        <p:spPr>
          <a:xfrm>
            <a:off x="7043512" y="2439161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endParaRPr lang="en-US" sz="1800" dirty="0"/>
          </a:p>
        </p:txBody>
      </p:sp>
      <p:sp>
        <p:nvSpPr>
          <p:cNvPr id="10" name="Google Shape;85;p11">
            <a:extLst>
              <a:ext uri="{FF2B5EF4-FFF2-40B4-BE49-F238E27FC236}">
                <a16:creationId xmlns:a16="http://schemas.microsoft.com/office/drawing/2014/main" id="{8F0EEFF1-3B30-40D1-8882-904CE83CD7B3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41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DC698-4855-3533-4E73-D440A07F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FD854-10C9-BFCC-F10B-4060836D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289E6-A89C-6C84-380E-B4062A847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D874ED3-5911-D358-D44E-03CAC3B43F8A}"/>
              </a:ext>
            </a:extLst>
          </p:cNvPr>
          <p:cNvSpPr txBox="1">
            <a:spLocks/>
          </p:cNvSpPr>
          <p:nvPr/>
        </p:nvSpPr>
        <p:spPr>
          <a:xfrm>
            <a:off x="7043512" y="2439161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endParaRPr lang="en-US" sz="1800" dirty="0"/>
          </a:p>
        </p:txBody>
      </p:sp>
      <p:sp>
        <p:nvSpPr>
          <p:cNvPr id="10" name="Google Shape;85;p11">
            <a:extLst>
              <a:ext uri="{FF2B5EF4-FFF2-40B4-BE49-F238E27FC236}">
                <a16:creationId xmlns:a16="http://schemas.microsoft.com/office/drawing/2014/main" id="{36D862FF-0701-224B-7676-6F2A5BCEC8FD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095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7D5E-AEAE-4991-0854-1479E3A4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1CB3-8F5D-5D7D-7BB8-88B62A82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&amp; Model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2A88A-F929-42C6-315B-393108FF2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A60BF-0CAD-AB33-DE12-F220486E72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B894030-BED2-7234-9C9B-1E60E0A28764}"/>
              </a:ext>
            </a:extLst>
          </p:cNvPr>
          <p:cNvSpPr txBox="1">
            <a:spLocks/>
          </p:cNvSpPr>
          <p:nvPr/>
        </p:nvSpPr>
        <p:spPr>
          <a:xfrm>
            <a:off x="7043512" y="2439161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endParaRPr lang="en-US" sz="1800" dirty="0"/>
          </a:p>
        </p:txBody>
      </p:sp>
      <p:sp>
        <p:nvSpPr>
          <p:cNvPr id="10" name="Google Shape;85;p11">
            <a:extLst>
              <a:ext uri="{FF2B5EF4-FFF2-40B4-BE49-F238E27FC236}">
                <a16:creationId xmlns:a16="http://schemas.microsoft.com/office/drawing/2014/main" id="{9B34112C-18CC-E4A0-B878-9F838B4241DF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WhatsApp Video 2026-02-22 at 3.57.04 PM">
            <a:hlinkClick r:id="" action="ppaction://media"/>
            <a:extLst>
              <a:ext uri="{FF2B5EF4-FFF2-40B4-BE49-F238E27FC236}">
                <a16:creationId xmlns:a16="http://schemas.microsoft.com/office/drawing/2014/main" id="{AA02D041-E527-2941-2D51-92C585D525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47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DAAAA-12C6-8B2B-7EDE-516D8979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85D0-4580-4AFA-208C-4E122AC2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Mitigation Plan</a:t>
            </a:r>
          </a:p>
        </p:txBody>
      </p:sp>
      <p:sp>
        <p:nvSpPr>
          <p:cNvPr id="10" name="Google Shape;85;p11">
            <a:extLst>
              <a:ext uri="{FF2B5EF4-FFF2-40B4-BE49-F238E27FC236}">
                <a16:creationId xmlns:a16="http://schemas.microsoft.com/office/drawing/2014/main" id="{9F568011-0F4A-4DCB-8073-57C23DEFA72D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7FA4521-8F46-2418-08CD-943EBEC86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248752"/>
              </p:ext>
            </p:extLst>
          </p:nvPr>
        </p:nvGraphicFramePr>
        <p:xfrm>
          <a:off x="309780" y="1875296"/>
          <a:ext cx="11338172" cy="4813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086">
                  <a:extLst>
                    <a:ext uri="{9D8B030D-6E8A-4147-A177-3AD203B41FA5}">
                      <a16:colId xmlns:a16="http://schemas.microsoft.com/office/drawing/2014/main" val="2748707181"/>
                    </a:ext>
                  </a:extLst>
                </a:gridCol>
                <a:gridCol w="5669086">
                  <a:extLst>
                    <a:ext uri="{9D8B030D-6E8A-4147-A177-3AD203B41FA5}">
                      <a16:colId xmlns:a16="http://schemas.microsoft.com/office/drawing/2014/main" val="862868657"/>
                    </a:ext>
                  </a:extLst>
                </a:gridCol>
              </a:tblGrid>
              <a:tr h="82048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Mitigation Strategy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966082"/>
                  </a:ext>
                </a:extLst>
              </a:tr>
              <a:tr h="820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Mobile phone used as IMU sensor (effective above water). Underwater deployment requires waterproofing and is impractical for live sessions.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Transitioned to dedicated wrist-mounted hardware IMU for cleaner signal acquisition. Future work: underwater deployment using waterproof wearables for in-pool real-time use.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615393"/>
                  </a:ext>
                </a:extLst>
              </a:tr>
              <a:tr h="820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Single wrist IMU achieves 99.6% stroke-type accuracy and 82.61% quality accuracy. May miss some full-body dynamics vs. multi-sensor setups.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Single-sensor setup confirmed as viable for practical daily training. Multi-sensor configurations remain as a future extension for richer biomechanical analysis.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5255"/>
                  </a:ext>
                </a:extLst>
              </a:tr>
              <a:tr h="820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Underwater signal noise and distortion (water resistance, bubbles, lighting effects) can degrade sensor readings and affect model reliability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Apply advanced filtering techniques (e.g., Kalman filtering, low-pass filtering) during data cleaning and explore robust training with noisy/augmented underwater-like data in upcoming iterations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858932"/>
                  </a:ext>
                </a:extLst>
              </a:tr>
              <a:tr h="820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Current pipeline processes sessions post-hoc; feedback available through Supabase dashboard after session upload. Some latency remains between session end and result visibility.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Coach and swimmer-facing Supabase dashboard being developed for real-time longitudinal tracking. Future work: near-real-time edge streaming for in-session stroke feedback.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057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442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A89D-61C6-C1D6-E4B4-013DFF90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30F2A-2533-69AB-2A8E-CF1160D2F7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003323" y="6308724"/>
            <a:ext cx="2844800" cy="3683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0C0BB6-4444-9A38-AA39-B554A2554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460" y="1533773"/>
            <a:ext cx="7253325" cy="514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71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4047-F0F5-BB64-346B-35854709A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8C7C1-6F60-7F65-8985-20A38E66D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7E477-D675-6079-2E5A-A5B3C338B2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65108" y="6175674"/>
            <a:ext cx="2844800" cy="3683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784120-F3B7-9283-93E0-672905D4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36"/>
          <a:stretch>
            <a:fillRect/>
          </a:stretch>
        </p:blipFill>
        <p:spPr>
          <a:xfrm>
            <a:off x="837405" y="1931382"/>
            <a:ext cx="8754819" cy="467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33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6503-4EC2-D6F6-2FCC-7883D4D2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C8B5E-A38E-59FA-9DE6-2391A9E1F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[1] I. M. Sumartana and Y. </a:t>
            </a:r>
            <a:r>
              <a:rPr lang="en-US" dirty="0" err="1"/>
              <a:t>Setiaji</a:t>
            </a:r>
            <a:r>
              <a:rPr lang="en-US" dirty="0"/>
              <a:t>, “The physical and mental health benefits of swimming: Enhancing fitness, relaxation, endurance, and overall well-being,” Journal of Interdisciplinary and Multidisciplinary Studies (JIMS), vol. 1, no. 2, pp. 88–100, 2025.</a:t>
            </a:r>
          </a:p>
          <a:p>
            <a:r>
              <a:rPr lang="en-US" dirty="0"/>
              <a:t>[2] C. Brunner, M. Schmid, S. </a:t>
            </a:r>
            <a:r>
              <a:rPr lang="en-US" dirty="0" err="1"/>
              <a:t>Hoerzer</a:t>
            </a:r>
            <a:r>
              <a:rPr lang="en-US" dirty="0"/>
              <a:t>, and S. </a:t>
            </a:r>
            <a:r>
              <a:rPr lang="en-US" dirty="0" err="1"/>
              <a:t>Schroeer</a:t>
            </a:r>
            <a:r>
              <a:rPr lang="en-US" dirty="0"/>
              <a:t>, “Swimming stroke classification using magnetic and inertial measurement units and deep learning,” Sensors, vol. 22, no. 19, p. 7501, 2022.</a:t>
            </a:r>
          </a:p>
          <a:p>
            <a:r>
              <a:rPr lang="en-US" dirty="0"/>
              <a:t>[3] J. E. Morais, J. P. Oliveira, T. Sampaio, and T. M. Barbosa, “Wearables in swimming for real-time feedback: A systematic review,” Sensors, vol. 22, no. 10, p. 3677, 2022.</a:t>
            </a:r>
          </a:p>
          <a:p>
            <a:r>
              <a:rPr lang="en-US" dirty="0"/>
              <a:t>[4] G. Lozano-Berges, E. Mainer-Pardos, and J. A. </a:t>
            </a:r>
            <a:r>
              <a:rPr lang="en-US" dirty="0" err="1"/>
              <a:t>Casajus</a:t>
            </a:r>
            <a:r>
              <a:rPr lang="en-US" dirty="0"/>
              <a:t>, “The future of wearable technology in competitive swimming: A review of real-time feedback systems,” Sports Medicine - Open, vol. 10, no. 1, pp. 12–28, 2024.</a:t>
            </a:r>
          </a:p>
          <a:p>
            <a:r>
              <a:rPr lang="en-US" dirty="0"/>
              <a:t>[5] A. Al-</a:t>
            </a:r>
            <a:r>
              <a:rPr lang="en-US" dirty="0" err="1"/>
              <a:t>Majnoni</a:t>
            </a:r>
            <a:r>
              <a:rPr lang="en-US" dirty="0"/>
              <a:t>, J. Al-Sahli, D. Al-Ahmady, A. Al-Mutairi, A. </a:t>
            </a:r>
            <a:r>
              <a:rPr lang="en-US" dirty="0" err="1"/>
              <a:t>Alsini</a:t>
            </a:r>
            <a:r>
              <a:rPr lang="en-US" dirty="0"/>
              <a:t>, and M. Alharbi, “Moar: A swimmer motion swimming style identification model using deep learning,” Engineering, Technology &amp; Applied Science Research, vol. 15, no. 1, pp. 19295–19302, 2025.</a:t>
            </a:r>
          </a:p>
          <a:p>
            <a:r>
              <a:rPr lang="en-US" dirty="0"/>
              <a:t>[6] M. </a:t>
            </a:r>
            <a:r>
              <a:rPr lang="en-US" dirty="0" err="1"/>
              <a:t>Shperkin</a:t>
            </a:r>
            <a:r>
              <a:rPr lang="en-US" dirty="0"/>
              <a:t>, “Multi-task deep learning approach for segmenting and classifying competitive swimming activities using a single imu,” 2025.</a:t>
            </a:r>
          </a:p>
          <a:p>
            <a:r>
              <a:rPr lang="en-US" dirty="0"/>
              <a:t>[7] Y. Meng, “Swimming style recognition with convolutional neural network with single imu,” World Scientific Research Journal, vol. 10, no. 11, pp. 39–43, 2024.</a:t>
            </a:r>
          </a:p>
          <a:p>
            <a:r>
              <a:rPr lang="en-US" dirty="0"/>
              <a:t>[8] R. </a:t>
            </a:r>
            <a:r>
              <a:rPr lang="en-US" dirty="0" err="1"/>
              <a:t>Bredun</a:t>
            </a:r>
            <a:r>
              <a:rPr lang="en-US" dirty="0"/>
              <a:t>, “Swimming styles imu data.” </a:t>
            </a:r>
            <a:r>
              <a:rPr lang="en-US" dirty="0">
                <a:hlinkClick r:id="rId2"/>
              </a:rPr>
              <a:t>https://www.kaggle.com/</a:t>
            </a:r>
            <a:r>
              <a:rPr lang="en-US" dirty="0"/>
              <a:t> datasets/</a:t>
            </a:r>
            <a:r>
              <a:rPr lang="en-US" dirty="0" err="1"/>
              <a:t>ruslanbredun</a:t>
            </a:r>
            <a:r>
              <a:rPr lang="en-US" dirty="0"/>
              <a:t>/swimming-styles-imu-data/</a:t>
            </a:r>
            <a:r>
              <a:rPr lang="en-US" dirty="0" err="1"/>
              <a:t>discussion?sort</a:t>
            </a:r>
            <a:r>
              <a:rPr lang="en-US" dirty="0"/>
              <a:t>= hotness, 2022. Accessed: 2025-10-02.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9E702-8767-C95A-60CF-013E3B3E02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30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44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5;p11">
            <a:extLst>
              <a:ext uri="{FF2B5EF4-FFF2-40B4-BE49-F238E27FC236}">
                <a16:creationId xmlns:a16="http://schemas.microsoft.com/office/drawing/2014/main" id="{0CCC365D-73C9-4A4D-BA78-09C79E3CFF3A}"/>
              </a:ext>
            </a:extLst>
          </p:cNvPr>
          <p:cNvSpPr txBox="1">
            <a:spLocks/>
          </p:cNvSpPr>
          <p:nvPr/>
        </p:nvSpPr>
        <p:spPr>
          <a:xfrm>
            <a:off x="9037320" y="6411761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Stroke Quality Classification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Style-Aware Stroke Segmentation</a:t>
            </a:r>
          </a:p>
          <a:p>
            <a:pPr lvl="1"/>
            <a:r>
              <a:rPr lang="en-US" dirty="0"/>
              <a:t>Gyro-magnitude peak detection: Butterfly 0.6s, Freestyle 0.4s, Breaststroke 0.8s min inter-peak intervals. Each peak defines a symmetric analysis window yielding per-stroke CSV segments.</a:t>
            </a:r>
          </a:p>
          <a:p>
            <a:r>
              <a:rPr lang="en-US" b="1" dirty="0"/>
              <a:t>Kinematic Feature Extraction per Stroke</a:t>
            </a:r>
          </a:p>
          <a:p>
            <a:pPr lvl="1"/>
            <a:r>
              <a:rPr lang="en-US" dirty="0"/>
              <a:t>Angular velocity stats, jerk, pull-phase gyro ranges, phase proportions. Expert labels (Low/Moderate/Moderate-High/High) collapsed to binary Good/Bad.</a:t>
            </a:r>
          </a:p>
          <a:p>
            <a:r>
              <a:rPr lang="en-US" b="1" dirty="0"/>
              <a:t>Pipeline 1 - Model-Based (GRU classifier): Accuracy 69.57% | F1 75.86%</a:t>
            </a:r>
          </a:p>
          <a:p>
            <a:r>
              <a:rPr lang="en-US" b="1" dirty="0"/>
              <a:t>Pipeline 2 - Feature-Extraction (Best): Accuracy 82.61% | F1 82.45% | Both: Recall 84.62%</a:t>
            </a:r>
          </a:p>
          <a:p>
            <a:pPr lvl="1"/>
            <a:r>
              <a:rPr lang="en-US" dirty="0"/>
              <a:t>+13% accuracy and +6.6% F1 over Pipeline 1 on 23 held-out sessions. No trained quality model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2833</TotalTime>
  <Words>1897</Words>
  <Application>Microsoft Office PowerPoint</Application>
  <PresentationFormat>Widescreen</PresentationFormat>
  <Paragraphs>197</Paragraphs>
  <Slides>25</Slides>
  <Notes>19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Calibri</vt:lpstr>
      <vt:lpstr>Arial</vt:lpstr>
      <vt:lpstr>Office Theme</vt:lpstr>
      <vt:lpstr>PowerPoint Presentation</vt:lpstr>
      <vt:lpstr>Table of content</vt:lpstr>
      <vt:lpstr>Introduction</vt:lpstr>
      <vt:lpstr>Motivation</vt:lpstr>
      <vt:lpstr>Objectives</vt:lpstr>
      <vt:lpstr>Problem Statement</vt:lpstr>
      <vt:lpstr>Related Work (1/3)</vt:lpstr>
      <vt:lpstr>Related Work (2/3)</vt:lpstr>
      <vt:lpstr>Related Work (3/3)</vt:lpstr>
      <vt:lpstr>Comparison</vt:lpstr>
      <vt:lpstr>System Architecture </vt:lpstr>
      <vt:lpstr>Model Architecture  </vt:lpstr>
      <vt:lpstr>Dataset (our data) </vt:lpstr>
      <vt:lpstr>Methodology Summary</vt:lpstr>
      <vt:lpstr>Methodology Summary</vt:lpstr>
      <vt:lpstr>Methodology Summary</vt:lpstr>
      <vt:lpstr>Methodology Summary</vt:lpstr>
      <vt:lpstr>App Demo</vt:lpstr>
      <vt:lpstr>App Demo</vt:lpstr>
      <vt:lpstr>Video &amp; Model Demo</vt:lpstr>
      <vt:lpstr>Challenges &amp; Mitigation Plan</vt:lpstr>
      <vt:lpstr>PRELIMINARY RESULTS &amp; ANALYSIS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Omar Sameh</dc:creator>
  <cp:lastModifiedBy>Omar Sameh</cp:lastModifiedBy>
  <cp:revision>66</cp:revision>
  <dcterms:modified xsi:type="dcterms:W3CDTF">2026-02-23T21:59:31Z</dcterms:modified>
</cp:coreProperties>
</file>